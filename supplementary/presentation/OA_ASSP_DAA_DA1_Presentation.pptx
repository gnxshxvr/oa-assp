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0" d="100"/>
          <a:sy n="50" d="100"/>
        </p:scale>
        <p:origin x="898" y="-2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1520" y="1188720"/>
            <a:ext cx="109728" cy="4846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79" y="1371826"/>
            <a:ext cx="11263449" cy="1169551"/>
          </a:xfrm>
          <a:prstGeom prst="rect">
            <a:avLst/>
          </a:prstGeom>
          <a:noFill/>
        </p:spPr>
        <p:txBody>
          <a:bodyPr wrap="square" lIns="0" tIns="0" rIns="0" bIns="0">
            <a:spAutoFit/>
          </a:bodyPr>
          <a:lstStyle/>
          <a:p>
            <a:pPr algn="l">
              <a:spcAft>
                <a:spcPts val="1000"/>
              </a:spcAft>
              <a:defRPr sz="1100" b="1">
                <a:solidFill>
                  <a:srgbClr val="2563EB"/>
                </a:solidFill>
                <a:latin typeface="Segoe UI"/>
              </a:defRPr>
            </a:pPr>
            <a:r>
              <a:rPr sz="2000"/>
              <a:t>DESIGN AND ANALYSIS OF ALGORITHMS (DAA) — DA1 LITERATURE SURVEY &amp; RESEARCH</a:t>
            </a:r>
          </a:p>
          <a:p>
            <a:pPr algn="l">
              <a:spcAft>
                <a:spcPts val="800"/>
              </a:spcAft>
              <a:defRPr sz="3200" b="1">
                <a:solidFill>
                  <a:srgbClr val="1A365D"/>
                </a:solidFill>
                <a:latin typeface="Segoe UI"/>
              </a:defRPr>
            </a:pPr>
            <a:r>
              <a:rPr sz="2000"/>
              <a:t>When Is Algorithm Selection Worth the Cost?</a:t>
            </a:r>
          </a:p>
          <a:p>
            <a:pPr algn="l">
              <a:defRPr sz="1800">
                <a:solidFill>
                  <a:srgbClr val="334155"/>
                </a:solidFill>
                <a:latin typeface="Segoe UI"/>
              </a:defRPr>
            </a:pPr>
            <a:r>
              <a:rPr sz="2000"/>
              <a:t>An Overhead-Aware Study of Exact Shortest-Path Computation</a:t>
            </a:r>
          </a:p>
        </p:txBody>
      </p:sp>
      <p:sp>
        <p:nvSpPr>
          <p:cNvPr id="4" name="Rounded Rectangle 3"/>
          <p:cNvSpPr/>
          <p:nvPr/>
        </p:nvSpPr>
        <p:spPr>
          <a:xfrm>
            <a:off x="1097280" y="2852928"/>
            <a:ext cx="1033272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37160" rIns="228600" rtlCol="0" anchor="t"/>
          <a:lstStyle/>
          <a:p>
            <a:pPr algn="l">
              <a:defRPr sz="1100" b="1">
                <a:solidFill>
                  <a:srgbClr val="1A365D"/>
                </a:solidFill>
                <a:latin typeface="Segoe UI"/>
              </a:defRPr>
            </a:pPr>
            <a:r>
              <a:rPr dirty="0"/>
              <a:t>Central Research Question: </a:t>
            </a:r>
            <a:r>
              <a:rPr sz="1100" i="1" dirty="0">
                <a:solidFill>
                  <a:srgbClr val="334155"/>
                </a:solidFill>
                <a:latin typeface="Segoe UI"/>
              </a:rPr>
              <a:t>"Within what graph and query-workload conditions can adaptive exact shortest-path algorithm selection capture enough SBS–VBS performance headroom to justify its own selection overhead?"</a:t>
            </a:r>
          </a:p>
        </p:txBody>
      </p:sp>
      <p:sp>
        <p:nvSpPr>
          <p:cNvPr id="5" name="Rounded Rectangle 4"/>
          <p:cNvSpPr/>
          <p:nvPr/>
        </p:nvSpPr>
        <p:spPr>
          <a:xfrm>
            <a:off x="1097279" y="4098470"/>
            <a:ext cx="10618927" cy="193656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64592" rIns="274320" rtlCol="0" anchor="t"/>
          <a:lstStyle/>
          <a:p>
            <a:pPr algn="l">
              <a:spcAft>
                <a:spcPts val="600"/>
              </a:spcAft>
              <a:defRPr sz="1000" b="1">
                <a:solidFill>
                  <a:srgbClr val="64748B"/>
                </a:solidFill>
                <a:latin typeface="Segoe UI"/>
              </a:defRPr>
            </a:pPr>
            <a:r>
              <a:rPr dirty="0"/>
              <a:t>RESEARCH TEAM &amp; AFFILIATION:</a:t>
            </a:r>
          </a:p>
          <a:p>
            <a:pPr algn="l">
              <a:spcAft>
                <a:spcPts val="600"/>
              </a:spcAft>
              <a:defRPr sz="1400" b="1">
                <a:solidFill>
                  <a:srgbClr val="1A365D"/>
                </a:solidFill>
                <a:latin typeface="Segoe UI"/>
              </a:defRPr>
            </a:pPr>
            <a:r>
              <a:rPr dirty="0"/>
              <a:t>1. Ganeshvar K S          2. Sai </a:t>
            </a:r>
            <a:r>
              <a:rPr dirty="0" err="1"/>
              <a:t>Siddaarth</a:t>
            </a:r>
            <a:r>
              <a:rPr dirty="0"/>
              <a:t>          School of Computer Science</a:t>
            </a:r>
            <a:br>
              <a:rPr dirty="0"/>
            </a:br>
            <a:r>
              <a:rPr dirty="0"/>
              <a:t>Vellore Institute of Technology, Chennai, India</a:t>
            </a:r>
          </a:p>
        </p:txBody>
      </p:sp>
      <p:sp>
        <p:nvSpPr>
          <p:cNvPr id="6" name="Rectangle 5"/>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8" name="TextBox 7"/>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1 of 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BACKGROUND &amp; MOTIVATION</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The Overhead Dilemma in Shortest-Path Selection</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34440"/>
            <a:ext cx="53035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l">
              <a:spcAft>
                <a:spcPts val="1200"/>
              </a:spcAft>
              <a:defRPr sz="1350" b="1">
                <a:solidFill>
                  <a:srgbClr val="1A365D"/>
                </a:solidFill>
                <a:latin typeface="Segoe UI"/>
              </a:defRPr>
            </a:pPr>
            <a:r>
              <a:t>Algorithmic Dilemma: Headroom vs. Overhead</a:t>
            </a:r>
          </a:p>
          <a:p>
            <a:pPr algn="l">
              <a:spcAft>
                <a:spcPts val="800"/>
              </a:spcAft>
              <a:defRPr sz="1100">
                <a:solidFill>
                  <a:srgbClr val="2563EB"/>
                </a:solidFill>
                <a:latin typeface="Segoe UI"/>
              </a:defRPr>
            </a:pPr>
            <a:r>
              <a:t>• </a:t>
            </a:r>
            <a:r>
              <a:rPr b="1">
                <a:solidFill>
                  <a:srgbClr val="0F172A"/>
                </a:solidFill>
              </a:rPr>
              <a:t>Algorithmic Diversity:</a:t>
            </a:r>
            <a:r>
              <a:rPr b="0">
                <a:solidFill>
                  <a:srgbClr val="334155"/>
                </a:solidFill>
              </a:rPr>
              <a:t> Canonical exact solvers (Dijkstra, Bidirectional Dijkstra, A*) have fundamentally different strengths. No single solver dominates across all topological configurations and query endpoints.</a:t>
            </a:r>
          </a:p>
          <a:p>
            <a:pPr algn="l">
              <a:spcAft>
                <a:spcPts val="800"/>
              </a:spcAft>
              <a:defRPr sz="1100">
                <a:solidFill>
                  <a:srgbClr val="2563EB"/>
                </a:solidFill>
                <a:latin typeface="Segoe UI"/>
              </a:defRPr>
            </a:pPr>
            <a:r>
              <a:t>• </a:t>
            </a:r>
            <a:r>
              <a:rPr b="1">
                <a:solidFill>
                  <a:srgbClr val="0F172A"/>
                </a:solidFill>
              </a:rPr>
              <a:t>Instance Complementarity:</a:t>
            </a:r>
            <a:r>
              <a:rPr b="0">
                <a:solidFill>
                  <a:srgbClr val="334155"/>
                </a:solidFill>
              </a:rPr>
              <a:t> Graph density, diameter, and coordinate embeddings favor different algorithms per instance (e.g., A* excels on metric embeddings, Bidirectional Dijkstra on dense random graphs).</a:t>
            </a:r>
          </a:p>
          <a:p>
            <a:pPr algn="l">
              <a:spcAft>
                <a:spcPts val="800"/>
              </a:spcAft>
              <a:defRPr sz="1100">
                <a:solidFill>
                  <a:srgbClr val="2563EB"/>
                </a:solidFill>
                <a:latin typeface="Segoe UI"/>
              </a:defRPr>
            </a:pPr>
            <a:r>
              <a:t>• </a:t>
            </a:r>
            <a:r>
              <a:rPr b="1">
                <a:solidFill>
                  <a:srgbClr val="0F172A"/>
                </a:solidFill>
              </a:rPr>
              <a:t>The Selection Promise:</a:t>
            </a:r>
            <a:r>
              <a:rPr b="0">
                <a:solidFill>
                  <a:srgbClr val="334155"/>
                </a:solidFill>
              </a:rPr>
              <a:t> Per-instance algorithm selection seeks to map instance features to the fastest solver dynamically, aiming to outperform any static solver policy.</a:t>
            </a:r>
          </a:p>
          <a:p>
            <a:pPr algn="l">
              <a:spcAft>
                <a:spcPts val="800"/>
              </a:spcAft>
              <a:defRPr sz="1100">
                <a:solidFill>
                  <a:srgbClr val="2563EB"/>
                </a:solidFill>
                <a:latin typeface="Segoe UI"/>
              </a:defRPr>
            </a:pPr>
            <a:r>
              <a:t>• </a:t>
            </a:r>
            <a:r>
              <a:rPr b="1">
                <a:solidFill>
                  <a:srgbClr val="0F172A"/>
                </a:solidFill>
              </a:rPr>
              <a:t>The Microsecond Reality:</a:t>
            </a:r>
            <a:r>
              <a:rPr b="0">
                <a:solidFill>
                  <a:srgbClr val="334155"/>
                </a:solidFill>
              </a:rPr>
              <a:t> Exact shortest-path queries on sub-thousand-vertex graphs execute in hundreds of microseconds. Standard ML inference and feature extraction can easily exceed solver execution time!</a:t>
            </a:r>
          </a:p>
          <a:p>
            <a:pPr algn="l">
              <a:spcAft>
                <a:spcPts val="800"/>
              </a:spcAft>
              <a:defRPr sz="1100">
                <a:solidFill>
                  <a:srgbClr val="2563EB"/>
                </a:solidFill>
                <a:latin typeface="Segoe UI"/>
              </a:defRPr>
            </a:pPr>
            <a:r>
              <a:t>• </a:t>
            </a:r>
            <a:r>
              <a:rPr b="1">
                <a:solidFill>
                  <a:srgbClr val="0F172A"/>
                </a:solidFill>
              </a:rPr>
              <a:t>The Core Question:</a:t>
            </a:r>
            <a:r>
              <a:rPr b="0">
                <a:solidFill>
                  <a:srgbClr val="334155"/>
                </a:solidFill>
              </a:rPr>
              <a:t> Does adaptive algorithm selection capture enough solver-side performance gain to pay for the computational cost of extracting features and running the model?</a:t>
            </a:r>
          </a:p>
        </p:txBody>
      </p:sp>
      <p:sp>
        <p:nvSpPr>
          <p:cNvPr id="6" name="Rounded Rectangle 5"/>
          <p:cNvSpPr/>
          <p:nvPr/>
        </p:nvSpPr>
        <p:spPr>
          <a:xfrm>
            <a:off x="6217920" y="1234440"/>
            <a:ext cx="5242255"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l">
              <a:spcAft>
                <a:spcPts val="1000"/>
              </a:spcAft>
              <a:defRPr sz="1350" b="1">
                <a:solidFill>
                  <a:srgbClr val="1A365D"/>
                </a:solidFill>
                <a:latin typeface="Segoe UI"/>
              </a:defRPr>
            </a:pPr>
            <a:r>
              <a:t>End-to-End Decision &amp; Execution Pipeline</a:t>
            </a:r>
          </a:p>
          <a:p>
            <a:pPr algn="l">
              <a:defRPr sz="1100" b="1">
                <a:solidFill>
                  <a:srgbClr val="2563EB"/>
                </a:solidFill>
                <a:latin typeface="Segoe UI"/>
              </a:defRPr>
            </a:pPr>
            <a:r>
              <a:t>▶ 1. Resident Graph G</a:t>
            </a:r>
          </a:p>
          <a:p>
            <a:pPr algn="l">
              <a:spcAft>
                <a:spcPts val="500"/>
              </a:spcAft>
              <a:defRPr sz="1000">
                <a:solidFill>
                  <a:srgbClr val="334155"/>
                </a:solidFill>
                <a:latin typeface="Segoe UI"/>
              </a:defRPr>
            </a:pPr>
            <a:r>
              <a:t>    One-time graph features computed once, amortized over workload Q</a:t>
            </a:r>
          </a:p>
          <a:p>
            <a:pPr algn="l">
              <a:defRPr sz="1100" b="1">
                <a:solidFill>
                  <a:srgbClr val="2563EB"/>
                </a:solidFill>
                <a:latin typeface="Segoe UI"/>
              </a:defRPr>
            </a:pPr>
            <a:r>
              <a:t>▶ 2. Incoming Query (s, t)</a:t>
            </a:r>
          </a:p>
          <a:p>
            <a:pPr algn="l">
              <a:spcAft>
                <a:spcPts val="500"/>
              </a:spcAft>
              <a:defRPr sz="1000">
                <a:solidFill>
                  <a:srgbClr val="334155"/>
                </a:solidFill>
                <a:latin typeface="Segoe UI"/>
              </a:defRPr>
            </a:pPr>
            <a:r>
              <a:t>    Per-query features extracted (endpoints, degrees, heuristic distance)</a:t>
            </a:r>
          </a:p>
          <a:p>
            <a:pPr algn="l">
              <a:defRPr sz="1100" b="1">
                <a:solidFill>
                  <a:srgbClr val="2563EB"/>
                </a:solidFill>
                <a:latin typeface="Segoe UI"/>
              </a:defRPr>
            </a:pPr>
            <a:r>
              <a:t>▶ 3. Algorithm Selector</a:t>
            </a:r>
          </a:p>
          <a:p>
            <a:pPr algn="l">
              <a:spcAft>
                <a:spcPts val="500"/>
              </a:spcAft>
              <a:defRPr sz="1000">
                <a:solidFill>
                  <a:srgbClr val="334155"/>
                </a:solidFill>
                <a:latin typeface="Segoe UI"/>
              </a:defRPr>
            </a:pPr>
            <a:r>
              <a:t>    Decision tree evaluates features (Library vs. Compiled branch inference)</a:t>
            </a:r>
          </a:p>
          <a:p>
            <a:pPr algn="l">
              <a:defRPr sz="1100" b="1">
                <a:solidFill>
                  <a:srgbClr val="2563EB"/>
                </a:solidFill>
                <a:latin typeface="Segoe UI"/>
              </a:defRPr>
            </a:pPr>
            <a:r>
              <a:t>▶ 4. Solver Execution</a:t>
            </a:r>
          </a:p>
          <a:p>
            <a:pPr algn="l">
              <a:spcAft>
                <a:spcPts val="500"/>
              </a:spcAft>
              <a:defRPr sz="1000">
                <a:solidFill>
                  <a:srgbClr val="334155"/>
                </a:solidFill>
                <a:latin typeface="Segoe UI"/>
              </a:defRPr>
            </a:pPr>
            <a:r>
              <a:t>    Selected solver executes: Dijkstra, Bidirectional Dijkstra, or A*</a:t>
            </a:r>
          </a:p>
          <a:p>
            <a:pPr algn="l">
              <a:defRPr sz="1100" b="1">
                <a:solidFill>
                  <a:srgbClr val="2563EB"/>
                </a:solidFill>
                <a:latin typeface="Segoe UI"/>
              </a:defRPr>
            </a:pPr>
            <a:r>
              <a:t>▶ 5. Path &amp; Distance</a:t>
            </a:r>
          </a:p>
          <a:p>
            <a:pPr algn="l">
              <a:spcAft>
                <a:spcPts val="500"/>
              </a:spcAft>
              <a:defRPr sz="1000">
                <a:solidFill>
                  <a:srgbClr val="334155"/>
                </a:solidFill>
                <a:latin typeface="Segoe UI"/>
              </a:defRPr>
            </a:pPr>
            <a:r>
              <a:t>    Optimal path returned. Total time = Selection Cost + Solver Cost</a:t>
            </a:r>
          </a:p>
        </p:txBody>
      </p:sp>
      <p:sp>
        <p:nvSpPr>
          <p:cNvPr id="7" name="Rounded Rectangle 6"/>
          <p:cNvSpPr/>
          <p:nvPr/>
        </p:nvSpPr>
        <p:spPr>
          <a:xfrm>
            <a:off x="6400799" y="4457700"/>
            <a:ext cx="4876495" cy="1051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square" lIns="164592" tIns="91440" rtlCol="0" anchor="t"/>
          <a:lstStyle/>
          <a:p>
            <a:pPr algn="l">
              <a:spcAft>
                <a:spcPts val="300"/>
              </a:spcAft>
              <a:defRPr sz="950" b="1">
                <a:solidFill>
                  <a:srgbClr val="2563EB"/>
                </a:solidFill>
                <a:latin typeface="Segoe UI"/>
              </a:defRPr>
            </a:pPr>
            <a:r>
              <a:rPr dirty="0"/>
              <a:t>TOTAL ADAPTIVE COST FORMULATION:</a:t>
            </a:r>
          </a:p>
          <a:p>
            <a:pPr algn="l">
              <a:spcAft>
                <a:spcPts val="200"/>
              </a:spcAft>
              <a:defRPr sz="1000" b="1">
                <a:solidFill>
                  <a:srgbClr val="0F172A"/>
                </a:solidFill>
                <a:latin typeface="Consolas"/>
              </a:defRPr>
            </a:pPr>
            <a:r>
              <a:rPr dirty="0" err="1"/>
              <a:t>C_adaptive</a:t>
            </a:r>
            <a:r>
              <a:rPr dirty="0"/>
              <a:t>(Q) = </a:t>
            </a:r>
            <a:r>
              <a:rPr dirty="0" err="1"/>
              <a:t>C_graph_feat</a:t>
            </a:r>
            <a:r>
              <a:rPr dirty="0"/>
              <a:t> + ∑ (</a:t>
            </a:r>
            <a:r>
              <a:rPr dirty="0" err="1"/>
              <a:t>C_query_feat</a:t>
            </a:r>
            <a:r>
              <a:rPr dirty="0"/>
              <a:t> + </a:t>
            </a:r>
            <a:r>
              <a:rPr dirty="0" err="1"/>
              <a:t>C_sel</a:t>
            </a:r>
            <a:r>
              <a:rPr dirty="0"/>
              <a:t> + </a:t>
            </a:r>
            <a:r>
              <a:rPr dirty="0" err="1"/>
              <a:t>C_solver</a:t>
            </a:r>
            <a:r>
              <a:rPr dirty="0"/>
              <a:t>)</a:t>
            </a:r>
          </a:p>
          <a:p>
            <a:pPr algn="l">
              <a:defRPr sz="950" b="1">
                <a:solidFill>
                  <a:srgbClr val="B45309"/>
                </a:solidFill>
                <a:latin typeface="Segoe UI"/>
              </a:defRPr>
            </a:pPr>
            <a:r>
              <a:rPr dirty="0"/>
              <a:t>Break-Even Condition: Solver Savings &gt; Total Selection Overhead</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2 of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ACADEMIC SURVEY OBJECTIVES</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Survey Objectives: Scope &amp; Methodological Goals</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61872"/>
            <a:ext cx="10728655" cy="7498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91440" rIns="201168" rtlCol="0" anchor="t"/>
          <a:lstStyle/>
          <a:p>
            <a:pPr algn="l">
              <a:spcAft>
                <a:spcPts val="200"/>
              </a:spcAft>
              <a:defRPr sz="1100" b="1">
                <a:solidFill>
                  <a:srgbClr val="1A365D"/>
                </a:solidFill>
                <a:latin typeface="Segoe UI"/>
              </a:defRPr>
            </a:pPr>
            <a:r>
              <a:t>Objective 1: Exact Shortest-Path Algorithm Foundations</a:t>
            </a:r>
          </a:p>
          <a:p>
            <a:pPr algn="l">
              <a:defRPr sz="1000">
                <a:solidFill>
                  <a:srgbClr val="334155"/>
                </a:solidFill>
                <a:latin typeface="Segoe UI"/>
              </a:defRPr>
            </a:pPr>
            <a:r>
              <a:t>Analyze the mechanics, expansion geometries, and performance trade-offs of canonical point-to-point solvers (Dijkstra, Bidirectional Dijkstra, and A* search) across varied network topologies.</a:t>
            </a:r>
          </a:p>
        </p:txBody>
      </p:sp>
      <p:sp>
        <p:nvSpPr>
          <p:cNvPr id="6" name="Rounded Rectangle 5"/>
          <p:cNvSpPr/>
          <p:nvPr/>
        </p:nvSpPr>
        <p:spPr>
          <a:xfrm>
            <a:off x="731520" y="2084831"/>
            <a:ext cx="10728655" cy="7498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91440" rIns="201168" rtlCol="0" anchor="t"/>
          <a:lstStyle/>
          <a:p>
            <a:pPr algn="l">
              <a:spcAft>
                <a:spcPts val="200"/>
              </a:spcAft>
              <a:defRPr sz="1100" b="1">
                <a:solidFill>
                  <a:srgbClr val="1A365D"/>
                </a:solidFill>
                <a:latin typeface="Segoe UI"/>
              </a:defRPr>
            </a:pPr>
            <a:r>
              <a:t>Objective 2: Principles of Per-Instance Algorithm Selection</a:t>
            </a:r>
          </a:p>
          <a:p>
            <a:pPr algn="l">
              <a:defRPr sz="1000">
                <a:solidFill>
                  <a:srgbClr val="334155"/>
                </a:solidFill>
                <a:latin typeface="Segoe UI"/>
              </a:defRPr>
            </a:pPr>
            <a:r>
              <a:t>Examine the theoretical underpinnings of algorithm portfolios originating from Rice's framework (1976), tracing its evolution through empirical hardness models, runtime prediction, and automated selection.</a:t>
            </a:r>
          </a:p>
        </p:txBody>
      </p:sp>
      <p:sp>
        <p:nvSpPr>
          <p:cNvPr id="7" name="Rounded Rectangle 6"/>
          <p:cNvSpPr/>
          <p:nvPr/>
        </p:nvSpPr>
        <p:spPr>
          <a:xfrm>
            <a:off x="731520" y="2907791"/>
            <a:ext cx="10728655" cy="7498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91440" rIns="201168" rtlCol="0" anchor="t"/>
          <a:lstStyle/>
          <a:p>
            <a:pPr algn="l">
              <a:spcAft>
                <a:spcPts val="200"/>
              </a:spcAft>
              <a:defRPr sz="1100" b="1">
                <a:solidFill>
                  <a:srgbClr val="1A365D"/>
                </a:solidFill>
                <a:latin typeface="Segoe UI"/>
              </a:defRPr>
            </a:pPr>
            <a:r>
              <a:t>Objective 3: Graph Characteristics as Predictive Features</a:t>
            </a:r>
          </a:p>
          <a:p>
            <a:pPr algn="l">
              <a:defRPr sz="1000">
                <a:solidFill>
                  <a:srgbClr val="334155"/>
                </a:solidFill>
                <a:latin typeface="Segoe UI"/>
              </a:defRPr>
            </a:pPr>
            <a:r>
              <a:t>Investigate the topological and metric features (density, degree statistics, clustering, and embedding ratios) used by machine learning models to characterize instances before solver dispatch.</a:t>
            </a:r>
          </a:p>
        </p:txBody>
      </p:sp>
      <p:sp>
        <p:nvSpPr>
          <p:cNvPr id="8" name="Rounded Rectangle 7"/>
          <p:cNvSpPr/>
          <p:nvPr/>
        </p:nvSpPr>
        <p:spPr>
          <a:xfrm>
            <a:off x="731520" y="3730752"/>
            <a:ext cx="10728655" cy="7498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91440" rIns="201168" rtlCol="0" anchor="t"/>
          <a:lstStyle/>
          <a:p>
            <a:pPr algn="l">
              <a:spcAft>
                <a:spcPts val="200"/>
              </a:spcAft>
              <a:defRPr sz="1100" b="1">
                <a:solidFill>
                  <a:srgbClr val="1A365D"/>
                </a:solidFill>
                <a:latin typeface="Segoe UI"/>
              </a:defRPr>
            </a:pPr>
            <a:r>
              <a:t>Objective 4: Computational Cost of Feature Extraction &amp; Inference</a:t>
            </a:r>
          </a:p>
          <a:p>
            <a:pPr algn="l">
              <a:defRPr sz="1000">
                <a:solidFill>
                  <a:srgbClr val="334155"/>
                </a:solidFill>
                <a:latin typeface="Segoe UI"/>
              </a:defRPr>
            </a:pPr>
            <a:r>
              <a:t>Study the wall-clock overhead incurred during instance characterization, vector assembly, and decision-tree inference, identifying when selection latency rivals execution time.</a:t>
            </a:r>
          </a:p>
        </p:txBody>
      </p:sp>
      <p:sp>
        <p:nvSpPr>
          <p:cNvPr id="9" name="Rounded Rectangle 8"/>
          <p:cNvSpPr/>
          <p:nvPr/>
        </p:nvSpPr>
        <p:spPr>
          <a:xfrm>
            <a:off x="731520" y="4553712"/>
            <a:ext cx="10728655" cy="7498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91440" rIns="201168" rtlCol="0" anchor="t"/>
          <a:lstStyle/>
          <a:p>
            <a:pPr algn="l">
              <a:spcAft>
                <a:spcPts val="200"/>
              </a:spcAft>
              <a:defRPr sz="1100" b="1">
                <a:solidFill>
                  <a:srgbClr val="1A365D"/>
                </a:solidFill>
                <a:latin typeface="Segoe UI"/>
              </a:defRPr>
            </a:pPr>
            <a:r>
              <a:t>Objective 5: Critical Comparison of State-of-the-Art Literature</a:t>
            </a:r>
          </a:p>
          <a:p>
            <a:pPr algn="l">
              <a:defRPr sz="1000">
                <a:solidFill>
                  <a:srgbClr val="334155"/>
                </a:solidFill>
                <a:latin typeface="Segoe UI"/>
              </a:defRPr>
            </a:pPr>
            <a:r>
              <a:t>Synthesize and compare methodologies across combinatorial portfolios (SATzilla, ASlib), algorithm engineering (Bast et al.), and recent landscape benchmarking (Gholami Shiri et al., van der Blom).</a:t>
            </a:r>
          </a:p>
        </p:txBody>
      </p:sp>
      <p:sp>
        <p:nvSpPr>
          <p:cNvPr id="10" name="Rounded Rectangle 9"/>
          <p:cNvSpPr/>
          <p:nvPr/>
        </p:nvSpPr>
        <p:spPr>
          <a:xfrm>
            <a:off x="731520" y="5376672"/>
            <a:ext cx="10728655" cy="7498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91440" rIns="201168" rtlCol="0" anchor="t"/>
          <a:lstStyle/>
          <a:p>
            <a:pPr algn="l">
              <a:spcAft>
                <a:spcPts val="200"/>
              </a:spcAft>
              <a:defRPr sz="1100" b="1">
                <a:solidFill>
                  <a:srgbClr val="1A365D"/>
                </a:solidFill>
                <a:latin typeface="Segoe UI"/>
              </a:defRPr>
            </a:pPr>
            <a:r>
              <a:t>Objective 6: Establish the OA-ASSP Research Gap</a:t>
            </a:r>
          </a:p>
          <a:p>
            <a:pPr algn="l">
              <a:defRPr sz="1000">
                <a:solidFill>
                  <a:srgbClr val="334155"/>
                </a:solidFill>
                <a:latin typeface="Segoe UI"/>
              </a:defRPr>
            </a:pPr>
            <a:r>
              <a:t>Formulate the formal research gap addressed by OA-ASSP: pricing physical wall-clock selection overhead against the empirical SBS–VBS oracle headroom across repeated query workloads.</a:t>
            </a:r>
          </a:p>
        </p:txBody>
      </p:sp>
      <p:sp>
        <p:nvSpPr>
          <p:cNvPr id="11" name="Rectangle 10"/>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3" name="TextBox 12"/>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3 of 17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01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Rice (1976) — Foundational Algorithm Selection Model</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John R. Rice, 'The Algorithm Selection Problem', Advances in Computers, Vol. 15, Academic Press, pp. 65–118, 1976.</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rPr dirty="0"/>
              <a:t>• </a:t>
            </a:r>
            <a:r>
              <a:rPr b="1" dirty="0">
                <a:solidFill>
                  <a:srgbClr val="0F172A"/>
                </a:solidFill>
              </a:rPr>
              <a:t>Problem Addressed: </a:t>
            </a:r>
            <a:r>
              <a:rPr b="0" dirty="0">
                <a:solidFill>
                  <a:srgbClr val="334155"/>
                </a:solidFill>
              </a:rPr>
              <a:t>Formalizing how to systematically choose the most computationally effective algorithm for a given problem instance when algorithm performance varies significantly across instances.</a:t>
            </a:r>
          </a:p>
          <a:p>
            <a:pPr algn="l">
              <a:spcAft>
                <a:spcPts val="700"/>
              </a:spcAft>
              <a:defRPr sz="1050">
                <a:solidFill>
                  <a:srgbClr val="2563EB"/>
                </a:solidFill>
                <a:latin typeface="Segoe UI"/>
              </a:defRPr>
            </a:pPr>
            <a:r>
              <a:rPr dirty="0"/>
              <a:t>• </a:t>
            </a:r>
            <a:r>
              <a:rPr b="1" dirty="0">
                <a:solidFill>
                  <a:srgbClr val="0F172A"/>
                </a:solidFill>
              </a:rPr>
              <a:t>Main Approach: </a:t>
            </a:r>
            <a:r>
              <a:rPr b="0" dirty="0">
                <a:solidFill>
                  <a:srgbClr val="334155"/>
                </a:solidFill>
              </a:rPr>
              <a:t>Formulated the foundational four-space conceptual architecture mapping Problem Space (P) via Feature Extraction f(x) into Feature Space (F), which a Selection Mapping S(f) routes to Algorithm Space (A), evaluated in Performance Space (Y).</a:t>
            </a:r>
          </a:p>
          <a:p>
            <a:pPr algn="l">
              <a:spcAft>
                <a:spcPts val="700"/>
              </a:spcAft>
              <a:defRPr sz="1050">
                <a:solidFill>
                  <a:srgbClr val="2563EB"/>
                </a:solidFill>
                <a:latin typeface="Segoe UI"/>
              </a:defRPr>
            </a:pPr>
            <a:r>
              <a:rPr dirty="0"/>
              <a:t>• </a:t>
            </a:r>
            <a:r>
              <a:rPr b="1" dirty="0">
                <a:solidFill>
                  <a:srgbClr val="0F172A"/>
                </a:solidFill>
              </a:rPr>
              <a:t>Evaluation &amp; Setting: </a:t>
            </a:r>
            <a:r>
              <a:rPr b="0" dirty="0">
                <a:solidFill>
                  <a:srgbClr val="334155"/>
                </a:solidFill>
              </a:rPr>
              <a:t>Theoretical formulation and mathematical analysis illustrated across computational mathematics, numerical quadrature, and differential equation approximation.</a:t>
            </a:r>
          </a:p>
          <a:p>
            <a:pPr algn="l">
              <a:spcAft>
                <a:spcPts val="700"/>
              </a:spcAft>
              <a:defRPr sz="1050">
                <a:solidFill>
                  <a:srgbClr val="2563EB"/>
                </a:solidFill>
                <a:latin typeface="Segoe UI"/>
              </a:defRPr>
            </a:pPr>
            <a:r>
              <a:rPr dirty="0"/>
              <a:t>• </a:t>
            </a:r>
            <a:r>
              <a:rPr b="1" dirty="0">
                <a:solidFill>
                  <a:srgbClr val="0F172A"/>
                </a:solidFill>
              </a:rPr>
              <a:t>Main Finding: </a:t>
            </a:r>
            <a:r>
              <a:rPr b="0" dirty="0">
                <a:solidFill>
                  <a:srgbClr val="334155"/>
                </a:solidFill>
              </a:rPr>
              <a:t>Proved that per-instance selection can achieve performance strictly superior to any single static algorithm whenever measurable instance features correlate with performance divergence.</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Provides the foundational theoretical framework adopted by OA-ASSP, while highlighting its historical blindspot: Rice's model implicitly assumes feature extraction and selection costs are negligible relative to solver execution time.</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4 of 17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02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Xu et al. (2008) — SATzilla: Portfolio-Based Selection for SAT</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Lin Xu, Frank Hutter, Holger H. Hoos, Kevin Leyton-Brown, 'SATzilla: Portfolio-based Algorithm Selection for SAT', Journal of Artificial Intelligence Research (JAIR), Vol. 32, pp. 565–606, 2008.</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t>• </a:t>
            </a:r>
            <a:r>
              <a:rPr b="1">
                <a:solidFill>
                  <a:srgbClr val="0F172A"/>
                </a:solidFill>
              </a:rPr>
              <a:t>Problem Addressed: </a:t>
            </a:r>
            <a:r>
              <a:rPr b="0">
                <a:solidFill>
                  <a:srgbClr val="334155"/>
                </a:solidFill>
              </a:rPr>
              <a:t>Solving hard propositional satisfiability (SAT) instances where solver performance exhibits extreme variance across industrial, random, and crafted formula distributions.</a:t>
            </a:r>
          </a:p>
          <a:p>
            <a:pPr algn="l">
              <a:spcAft>
                <a:spcPts val="700"/>
              </a:spcAft>
              <a:defRPr sz="1050">
                <a:solidFill>
                  <a:srgbClr val="2563EB"/>
                </a:solidFill>
                <a:latin typeface="Segoe UI"/>
              </a:defRPr>
            </a:pPr>
            <a:r>
              <a:t>• </a:t>
            </a:r>
            <a:r>
              <a:rPr b="1">
                <a:solidFill>
                  <a:srgbClr val="0F172A"/>
                </a:solidFill>
              </a:rPr>
              <a:t>Main Approach: </a:t>
            </a:r>
            <a:r>
              <a:rPr b="0">
                <a:solidFill>
                  <a:srgbClr val="334155"/>
                </a:solidFill>
              </a:rPr>
              <a:t>Constructed empirical hardness models using cost-sensitive ridge regression to predict individual solver runtimes from cheap syntactic features, incorporating automated pre-solving routines and fallback policies.</a:t>
            </a:r>
          </a:p>
          <a:p>
            <a:pPr algn="l">
              <a:spcAft>
                <a:spcPts val="700"/>
              </a:spcAft>
              <a:defRPr sz="1050">
                <a:solidFill>
                  <a:srgbClr val="2563EB"/>
                </a:solidFill>
                <a:latin typeface="Segoe UI"/>
              </a:defRPr>
            </a:pPr>
            <a:r>
              <a:t>• </a:t>
            </a:r>
            <a:r>
              <a:rPr b="1">
                <a:solidFill>
                  <a:srgbClr val="0F172A"/>
                </a:solidFill>
              </a:rPr>
              <a:t>Evaluation &amp; Setting: </a:t>
            </a:r>
            <a:r>
              <a:rPr b="0">
                <a:solidFill>
                  <a:srgbClr val="334155"/>
                </a:solidFill>
              </a:rPr>
              <a:t>Comprehensive empirical evaluation across thousands of benchmarks from international SAT Competitions against individual state-of-the-art SAT solvers.</a:t>
            </a:r>
          </a:p>
          <a:p>
            <a:pPr algn="l">
              <a:spcAft>
                <a:spcPts val="700"/>
              </a:spcAft>
              <a:defRPr sz="1050">
                <a:solidFill>
                  <a:srgbClr val="2563EB"/>
                </a:solidFill>
                <a:latin typeface="Segoe UI"/>
              </a:defRPr>
            </a:pPr>
            <a:r>
              <a:t>• </a:t>
            </a:r>
            <a:r>
              <a:rPr b="1">
                <a:solidFill>
                  <a:srgbClr val="0F172A"/>
                </a:solidFill>
              </a:rPr>
              <a:t>Main Finding: </a:t>
            </a:r>
            <a:r>
              <a:rPr b="0">
                <a:solidFill>
                  <a:srgbClr val="334155"/>
                </a:solidFill>
              </a:rPr>
              <a:t>Automated portfolio-based algorithm selection achieved massive, order-of-magnitude speedups over every standalone solver, establishing algorithm selection as a dominant paradigm in SAT.</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Demonstrates the immense power of algorithm selection in compute-heavy domains (seconds to hours), contrasting sharply with OA-ASSP's microsecond shortest-path domain where solver runtimes cannot easily absorb feature-extraction delays.</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5 of 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03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Hutter et al. (2014) — Algorithm Runtime Prediction</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Frank Hutter, Lin Xu, Holger H. Hoos, Kevin Leyton-Brown, 'Algorithm Runtime Prediction: Methods &amp; Evaluation', Artificial Intelligence (AIJ), Vol. 206, pp. 79–111, 2014.</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t>• </a:t>
            </a:r>
            <a:r>
              <a:rPr b="1">
                <a:solidFill>
                  <a:srgbClr val="0F172A"/>
                </a:solidFill>
              </a:rPr>
              <a:t>Problem Addressed: </a:t>
            </a:r>
            <a:r>
              <a:rPr b="0">
                <a:solidFill>
                  <a:srgbClr val="334155"/>
                </a:solidFill>
              </a:rPr>
              <a:t>Accurately predicting the empirical wall-clock execution runtimes of algorithms on unseen problem instances based on measurable instance characteristics.</a:t>
            </a:r>
          </a:p>
          <a:p>
            <a:pPr algn="l">
              <a:spcAft>
                <a:spcPts val="700"/>
              </a:spcAft>
              <a:defRPr sz="1050">
                <a:solidFill>
                  <a:srgbClr val="2563EB"/>
                </a:solidFill>
                <a:latin typeface="Segoe UI"/>
              </a:defRPr>
            </a:pPr>
            <a:r>
              <a:t>• </a:t>
            </a:r>
            <a:r>
              <a:rPr b="1">
                <a:solidFill>
                  <a:srgbClr val="0F172A"/>
                </a:solidFill>
              </a:rPr>
              <a:t>Main Approach: </a:t>
            </a:r>
            <a:r>
              <a:rPr b="0">
                <a:solidFill>
                  <a:srgbClr val="334155"/>
                </a:solidFill>
              </a:rPr>
              <a:t>Evaluated and compared multiple machine learning regression architectures (ridge regression, neural networks, Gaussian processes, and random forests) to model log-transformed execution times, accounting for timeout censoring.</a:t>
            </a:r>
          </a:p>
          <a:p>
            <a:pPr algn="l">
              <a:spcAft>
                <a:spcPts val="700"/>
              </a:spcAft>
              <a:defRPr sz="1050">
                <a:solidFill>
                  <a:srgbClr val="2563EB"/>
                </a:solidFill>
                <a:latin typeface="Segoe UI"/>
              </a:defRPr>
            </a:pPr>
            <a:r>
              <a:t>• </a:t>
            </a:r>
            <a:r>
              <a:rPr b="1">
                <a:solidFill>
                  <a:srgbClr val="0F172A"/>
                </a:solidFill>
              </a:rPr>
              <a:t>Evaluation &amp; Setting: </a:t>
            </a:r>
            <a:r>
              <a:rPr b="0">
                <a:solidFill>
                  <a:srgbClr val="334155"/>
                </a:solidFill>
              </a:rPr>
              <a:t>Extensive cross-domain evaluation spanning propositional satisfiability (SAT), mixed integer programming (MIP), and the traveling salesperson problem (TSP).</a:t>
            </a:r>
          </a:p>
          <a:p>
            <a:pPr algn="l">
              <a:spcAft>
                <a:spcPts val="700"/>
              </a:spcAft>
              <a:defRPr sz="1050">
                <a:solidFill>
                  <a:srgbClr val="2563EB"/>
                </a:solidFill>
                <a:latin typeface="Segoe UI"/>
              </a:defRPr>
            </a:pPr>
            <a:r>
              <a:t>• </a:t>
            </a:r>
            <a:r>
              <a:rPr b="1">
                <a:solidFill>
                  <a:srgbClr val="0F172A"/>
                </a:solidFill>
              </a:rPr>
              <a:t>Main Finding: </a:t>
            </a:r>
            <a:r>
              <a:rPr b="0">
                <a:solidFill>
                  <a:srgbClr val="334155"/>
                </a:solidFill>
              </a:rPr>
              <a:t>Random forests delivered the highest predictive accuracy across heterogeneous benchmarks by effectively capturing complex non-linear feature interactions without catastrophic prediction errors on heavy-tailed runtimes.</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Directly motivates OA-ASSP's diagnosis that unweighted 0/1 classification loss fails because it treats small and large timing differences identically, pointing to runtime-loss and regret-aware objectives as crucial future directions.</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6 of 17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04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Kotthoff (2014) — LLAMA: Modular Algorithm Selection Toolkit</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Lars Kotthoff, 'LLAMA: Leveraging Learning to Automatically Manage Algorithms', AI Communications, Vol. 27, No. 2, pp. 175–182, 2014.</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t>• </a:t>
            </a:r>
            <a:r>
              <a:rPr b="1">
                <a:solidFill>
                  <a:srgbClr val="0F172A"/>
                </a:solidFill>
              </a:rPr>
              <a:t>Problem Addressed: </a:t>
            </a:r>
            <a:r>
              <a:rPr b="0">
                <a:solidFill>
                  <a:srgbClr val="334155"/>
                </a:solidFill>
              </a:rPr>
              <a:t>The lack of an open, flexible, and standardized modular toolkit for implementing, comparing, and evaluating diverse algorithm selection models.</a:t>
            </a:r>
          </a:p>
          <a:p>
            <a:pPr algn="l">
              <a:spcAft>
                <a:spcPts val="700"/>
              </a:spcAft>
              <a:defRPr sz="1050">
                <a:solidFill>
                  <a:srgbClr val="2563EB"/>
                </a:solidFill>
                <a:latin typeface="Segoe UI"/>
              </a:defRPr>
            </a:pPr>
            <a:r>
              <a:t>• </a:t>
            </a:r>
            <a:r>
              <a:rPr b="1">
                <a:solidFill>
                  <a:srgbClr val="0F172A"/>
                </a:solidFill>
              </a:rPr>
              <a:t>Main Approach: </a:t>
            </a:r>
            <a:r>
              <a:rPr b="0">
                <a:solidFill>
                  <a:srgbClr val="334155"/>
                </a:solidFill>
              </a:rPr>
              <a:t>Developed an R-based framework providing modular abstractions that decouple feature preprocessing, machine learning models (regression, classification, clustering, pairwise ranking), and evaluation baselines.</a:t>
            </a:r>
          </a:p>
          <a:p>
            <a:pPr algn="l">
              <a:spcAft>
                <a:spcPts val="700"/>
              </a:spcAft>
              <a:defRPr sz="1050">
                <a:solidFill>
                  <a:srgbClr val="2563EB"/>
                </a:solidFill>
                <a:latin typeface="Segoe UI"/>
              </a:defRPr>
            </a:pPr>
            <a:r>
              <a:t>• </a:t>
            </a:r>
            <a:r>
              <a:rPr b="1">
                <a:solidFill>
                  <a:srgbClr val="0F172A"/>
                </a:solidFill>
              </a:rPr>
              <a:t>Evaluation &amp; Setting: </a:t>
            </a:r>
            <a:r>
              <a:rPr b="0">
                <a:solidFill>
                  <a:srgbClr val="334155"/>
                </a:solidFill>
              </a:rPr>
              <a:t>Validated across canonical algorithm selection datasets in constraint satisfaction, boolean satisfiability, and combinatorial optimization.</a:t>
            </a:r>
          </a:p>
          <a:p>
            <a:pPr algn="l">
              <a:spcAft>
                <a:spcPts val="700"/>
              </a:spcAft>
              <a:defRPr sz="1050">
                <a:solidFill>
                  <a:srgbClr val="2563EB"/>
                </a:solidFill>
                <a:latin typeface="Segoe UI"/>
              </a:defRPr>
            </a:pPr>
            <a:r>
              <a:t>• </a:t>
            </a:r>
            <a:r>
              <a:rPr b="1">
                <a:solidFill>
                  <a:srgbClr val="0F172A"/>
                </a:solidFill>
              </a:rPr>
              <a:t>Main Finding: </a:t>
            </a:r>
            <a:r>
              <a:rPr b="0">
                <a:solidFill>
                  <a:srgbClr val="334155"/>
                </a:solidFill>
              </a:rPr>
              <a:t>Demonstrated that selection performance is heavily influenced by modeling choices and that pairwise difference ranking frequently outperforms multi-class classification on portfolio tasks.</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Informs OA-ASSP's architectural separation of feature tiers, selection policies, and evaluation baselines, while reinforcing the need for selection toolkits to explicitly account for sub-millisecond execution and inference latency.</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7 of 17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05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Lindauer et al. (2015) — AutoFolio: Configured Algorithm Selection</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Marius Lindauer, Holger H. Hoos, Frank Hutter, Torsten Schaub, 'AutoFolio: An Automatically Configured Algorithm Selector', Journal of Artificial Intelligence Research (JAIR), Vol. 53, pp. 745–778, 2015.</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t>• </a:t>
            </a:r>
            <a:r>
              <a:rPr b="1">
                <a:solidFill>
                  <a:srgbClr val="0F172A"/>
                </a:solidFill>
              </a:rPr>
              <a:t>Problem Addressed: </a:t>
            </a:r>
            <a:r>
              <a:rPr b="0">
                <a:solidFill>
                  <a:srgbClr val="334155"/>
                </a:solidFill>
              </a:rPr>
              <a:t>Algorithm selection pipelines involve complex design choices (feature pre-processing, model choice, hyperparameters, pre-solving budgets) that require manual expert tuning.</a:t>
            </a:r>
          </a:p>
          <a:p>
            <a:pPr algn="l">
              <a:spcAft>
                <a:spcPts val="700"/>
              </a:spcAft>
              <a:defRPr sz="1050">
                <a:solidFill>
                  <a:srgbClr val="2563EB"/>
                </a:solidFill>
                <a:latin typeface="Segoe UI"/>
              </a:defRPr>
            </a:pPr>
            <a:r>
              <a:t>• </a:t>
            </a:r>
            <a:r>
              <a:rPr b="1">
                <a:solidFill>
                  <a:srgbClr val="0F172A"/>
                </a:solidFill>
              </a:rPr>
              <a:t>Main Approach: </a:t>
            </a:r>
            <a:r>
              <a:rPr b="0">
                <a:solidFill>
                  <a:srgbClr val="334155"/>
                </a:solidFill>
              </a:rPr>
              <a:t>Applied automated algorithm configuration (Sequential Model-based Algorithm Configuration, SMAC) to optimize the entire algorithm selection pipeline end-to-end for any given benchmark portfolio.</a:t>
            </a:r>
          </a:p>
          <a:p>
            <a:pPr algn="l">
              <a:spcAft>
                <a:spcPts val="700"/>
              </a:spcAft>
              <a:defRPr sz="1050">
                <a:solidFill>
                  <a:srgbClr val="2563EB"/>
                </a:solidFill>
                <a:latin typeface="Segoe UI"/>
              </a:defRPr>
            </a:pPr>
            <a:r>
              <a:t>• </a:t>
            </a:r>
            <a:r>
              <a:rPr b="1">
                <a:solidFill>
                  <a:srgbClr val="0F172A"/>
                </a:solidFill>
              </a:rPr>
              <a:t>Evaluation &amp; Setting: </a:t>
            </a:r>
            <a:r>
              <a:rPr b="0">
                <a:solidFill>
                  <a:srgbClr val="334155"/>
                </a:solidFill>
              </a:rPr>
              <a:t>Benchmarked across 13 diverse algorithm selection challenges from the ASlib repository covering SAT, Answer Set Programming (ASP), CSP, and QBF.</a:t>
            </a:r>
          </a:p>
          <a:p>
            <a:pPr algn="l">
              <a:spcAft>
                <a:spcPts val="700"/>
              </a:spcAft>
              <a:defRPr sz="1050">
                <a:solidFill>
                  <a:srgbClr val="2563EB"/>
                </a:solidFill>
                <a:latin typeface="Segoe UI"/>
              </a:defRPr>
            </a:pPr>
            <a:r>
              <a:t>• </a:t>
            </a:r>
            <a:r>
              <a:rPr b="1">
                <a:solidFill>
                  <a:srgbClr val="0F172A"/>
                </a:solidFill>
              </a:rPr>
              <a:t>Main Finding: </a:t>
            </a:r>
            <a:r>
              <a:rPr b="0">
                <a:solidFill>
                  <a:srgbClr val="334155"/>
                </a:solidFill>
              </a:rPr>
              <a:t>Automatically configured selectors consistently matched or outperformed manually engineered, domain-specific state-of-the-art selection systems across every benchmark family.</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Emphasizes the necessity of disciplined hyperparameter control; OA-ASSP adopts this experimental rigor by freezing validation-tuned selector hyperparameters across all feature tiers to prevent confounding model capacity with feature utility.</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8 of 17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06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Bischl et al. (2016) — ASlib: Algorithm Selection Benchmark Library</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Bernd Bischl et al., 'ASlib: A Benchmark Library for Algorithm Selection', Artificial Intelligence (AIJ), Vol. 237, pp. 41–58, 2016.</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t>• </a:t>
            </a:r>
            <a:r>
              <a:rPr b="1">
                <a:solidFill>
                  <a:srgbClr val="0F172A"/>
                </a:solidFill>
              </a:rPr>
              <a:t>Problem Addressed: </a:t>
            </a:r>
            <a:r>
              <a:rPr b="0">
                <a:solidFill>
                  <a:srgbClr val="334155"/>
                </a:solidFill>
              </a:rPr>
              <a:t>Proliferation of fragmented datasets, ad-hoc baselines, and inconsistent metrics prevented standardized comparisons and reproducible benchmarking in algorithm selection research.</a:t>
            </a:r>
          </a:p>
          <a:p>
            <a:pPr algn="l">
              <a:spcAft>
                <a:spcPts val="700"/>
              </a:spcAft>
              <a:defRPr sz="1050">
                <a:solidFill>
                  <a:srgbClr val="2563EB"/>
                </a:solidFill>
                <a:latin typeface="Segoe UI"/>
              </a:defRPr>
            </a:pPr>
            <a:r>
              <a:t>• </a:t>
            </a:r>
            <a:r>
              <a:rPr b="1">
                <a:solidFill>
                  <a:srgbClr val="0F172A"/>
                </a:solidFill>
              </a:rPr>
              <a:t>Main Approach: </a:t>
            </a:r>
            <a:r>
              <a:rPr b="0">
                <a:solidFill>
                  <a:srgbClr val="334155"/>
                </a:solidFill>
              </a:rPr>
              <a:t>Established an open, comprehensive benchmark library with standardized data formats, train/validation/test splits, feature runtimes, solver runtimes, and baseline reference definitions.</a:t>
            </a:r>
          </a:p>
          <a:p>
            <a:pPr algn="l">
              <a:spcAft>
                <a:spcPts val="700"/>
              </a:spcAft>
              <a:defRPr sz="1050">
                <a:solidFill>
                  <a:srgbClr val="2563EB"/>
                </a:solidFill>
                <a:latin typeface="Segoe UI"/>
              </a:defRPr>
            </a:pPr>
            <a:r>
              <a:t>• </a:t>
            </a:r>
            <a:r>
              <a:rPr b="1">
                <a:solidFill>
                  <a:srgbClr val="0F172A"/>
                </a:solidFill>
              </a:rPr>
              <a:t>Evaluation &amp; Setting: </a:t>
            </a:r>
            <a:r>
              <a:rPr b="0">
                <a:solidFill>
                  <a:srgbClr val="334155"/>
                </a:solidFill>
              </a:rPr>
              <a:t>Assembled 17 comprehensive benchmark scenarios spanning constraint satisfaction, satisfiability, planning, and operations research contributed by multiple international research teams.</a:t>
            </a:r>
          </a:p>
          <a:p>
            <a:pPr algn="l">
              <a:spcAft>
                <a:spcPts val="700"/>
              </a:spcAft>
              <a:defRPr sz="1050">
                <a:solidFill>
                  <a:srgbClr val="2563EB"/>
                </a:solidFill>
                <a:latin typeface="Segoe UI"/>
              </a:defRPr>
            </a:pPr>
            <a:r>
              <a:t>• </a:t>
            </a:r>
            <a:r>
              <a:rPr b="1">
                <a:solidFill>
                  <a:srgbClr val="0F172A"/>
                </a:solidFill>
              </a:rPr>
              <a:t>Main Finding: </a:t>
            </a:r>
            <a:r>
              <a:rPr b="0">
                <a:solidFill>
                  <a:srgbClr val="334155"/>
                </a:solidFill>
              </a:rPr>
              <a:t>Standardizing Single Best Solver (SBS), Virtual Best Solver (VBS), and Oracle Gap reference policies is essential for objectively quantifying how much available headroom an algorithm selector captures.</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Directly provides the formal reference framework (A_SBS, t(VBS), and OracleGap(Q)) that OA-ASSP builds upon to define performance headroom and derive the break-even metric RequiredCapture(Q).</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9 of 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07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Bast et al. (2016) — Route Planning in Transportation Networks</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Hannah Bast, Daniel Delling, Andrew Goldberg, et al., 'Route Planning in Transportation Networks', Algorithm Engineering, LNCS Vol. 9220, Springer, pp. 19–80, 2016.</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t>• </a:t>
            </a:r>
            <a:r>
              <a:rPr b="1">
                <a:solidFill>
                  <a:srgbClr val="0F172A"/>
                </a:solidFill>
              </a:rPr>
              <a:t>Problem Addressed: </a:t>
            </a:r>
            <a:r>
              <a:rPr b="0">
                <a:solidFill>
                  <a:srgbClr val="334155"/>
                </a:solidFill>
              </a:rPr>
              <a:t>Computing exact point-to-point shortest paths on continental road networks and transit graphs with millions of nodes within interactive, sub-millisecond response budgets.</a:t>
            </a:r>
          </a:p>
          <a:p>
            <a:pPr algn="l">
              <a:spcAft>
                <a:spcPts val="700"/>
              </a:spcAft>
              <a:defRPr sz="1050">
                <a:solidFill>
                  <a:srgbClr val="2563EB"/>
                </a:solidFill>
                <a:latin typeface="Segoe UI"/>
              </a:defRPr>
            </a:pPr>
            <a:r>
              <a:t>• </a:t>
            </a:r>
            <a:r>
              <a:rPr b="1">
                <a:solidFill>
                  <a:srgbClr val="0F172A"/>
                </a:solidFill>
              </a:rPr>
              <a:t>Main Approach: </a:t>
            </a:r>
            <a:r>
              <a:rPr b="0">
                <a:solidFill>
                  <a:srgbClr val="334155"/>
                </a:solidFill>
              </a:rPr>
              <a:t>Comprehensive synthesis of algorithm engineering techniques, surveying bidirectional search, goal-directed search (A*, ALT), and hierarchical preprocessing (Contraction Hierarchies, Hub Labeling, Transit Node Routing).</a:t>
            </a:r>
          </a:p>
          <a:p>
            <a:pPr algn="l">
              <a:spcAft>
                <a:spcPts val="700"/>
              </a:spcAft>
              <a:defRPr sz="1050">
                <a:solidFill>
                  <a:srgbClr val="2563EB"/>
                </a:solidFill>
                <a:latin typeface="Segoe UI"/>
              </a:defRPr>
            </a:pPr>
            <a:r>
              <a:t>• </a:t>
            </a:r>
            <a:r>
              <a:rPr b="1">
                <a:solidFill>
                  <a:srgbClr val="0F172A"/>
                </a:solidFill>
              </a:rPr>
              <a:t>Evaluation &amp; Setting: </a:t>
            </a:r>
            <a:r>
              <a:rPr b="0">
                <a:solidFill>
                  <a:srgbClr val="334155"/>
                </a:solidFill>
              </a:rPr>
              <a:t>Evaluated on continental-scale Western Europe and North America road networks comprising up to 18 million vertices and 42 million edges.</a:t>
            </a:r>
          </a:p>
          <a:p>
            <a:pPr algn="l">
              <a:spcAft>
                <a:spcPts val="700"/>
              </a:spcAft>
              <a:defRPr sz="1050">
                <a:solidFill>
                  <a:srgbClr val="2563EB"/>
                </a:solidFill>
                <a:latin typeface="Segoe UI"/>
              </a:defRPr>
            </a:pPr>
            <a:r>
              <a:t>• </a:t>
            </a:r>
            <a:r>
              <a:rPr b="1">
                <a:solidFill>
                  <a:srgbClr val="0F172A"/>
                </a:solidFill>
              </a:rPr>
              <a:t>Main Finding: </a:t>
            </a:r>
            <a:r>
              <a:rPr b="0">
                <a:solidFill>
                  <a:srgbClr val="334155"/>
                </a:solidFill>
              </a:rPr>
              <a:t>Classical priority-queue Dijkstra is unacceptably slow for real-time queries; bidirectional and goal-directed variants achieve substantial speedups, while preprocessing yields microsecond query times.</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Establishes the real-world algorithm engineering foundation for exact shortest paths, providing the context for why canonical exact solvers execute in hundreds of microseconds and why selection overhead becomes a critical bottleneck.</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10 of 17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08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Kerschke et al. (2019) — Automated Algorithm Selection Survey</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Pascal Kerschke, Holger H. Hoos, Frank Neumann, Heike Trautmann, 'Automated Algorithm Selection: Survey and Perspectives', Evolutionary Computation, Vol. 27, No. 1, MIT Press, pp. 3–45, 2019.</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t>• </a:t>
            </a:r>
            <a:r>
              <a:rPr b="1">
                <a:solidFill>
                  <a:srgbClr val="0F172A"/>
                </a:solidFill>
              </a:rPr>
              <a:t>Problem Addressed: </a:t>
            </a:r>
            <a:r>
              <a:rPr b="0">
                <a:solidFill>
                  <a:srgbClr val="334155"/>
                </a:solidFill>
              </a:rPr>
              <a:t>Synthesizing forty years of fragmented algorithm selection literature across discrete, continuous, combinatorial, and machine learning domains into a unified conceptual taxonomy.</a:t>
            </a:r>
          </a:p>
          <a:p>
            <a:pPr algn="l">
              <a:spcAft>
                <a:spcPts val="700"/>
              </a:spcAft>
              <a:defRPr sz="1050">
                <a:solidFill>
                  <a:srgbClr val="2563EB"/>
                </a:solidFill>
                <a:latin typeface="Segoe UI"/>
              </a:defRPr>
            </a:pPr>
            <a:r>
              <a:t>• </a:t>
            </a:r>
            <a:r>
              <a:rPr b="1">
                <a:solidFill>
                  <a:srgbClr val="0F172A"/>
                </a:solidFill>
              </a:rPr>
              <a:t>Main Approach: </a:t>
            </a:r>
            <a:r>
              <a:rPr b="0">
                <a:solidFill>
                  <a:srgbClr val="334155"/>
                </a:solidFill>
              </a:rPr>
              <a:t>Developed a comprehensive survey classifying problem characteristics, feature extraction strategies, learning paradigms (regression, classification, ranking), and evaluation methodologies.</a:t>
            </a:r>
          </a:p>
          <a:p>
            <a:pPr algn="l">
              <a:spcAft>
                <a:spcPts val="700"/>
              </a:spcAft>
              <a:defRPr sz="1050">
                <a:solidFill>
                  <a:srgbClr val="2563EB"/>
                </a:solidFill>
                <a:latin typeface="Segoe UI"/>
              </a:defRPr>
            </a:pPr>
            <a:r>
              <a:t>• </a:t>
            </a:r>
            <a:r>
              <a:rPr b="1">
                <a:solidFill>
                  <a:srgbClr val="0F172A"/>
                </a:solidFill>
              </a:rPr>
              <a:t>Evaluation &amp; Setting: </a:t>
            </a:r>
            <a:r>
              <a:rPr b="0">
                <a:solidFill>
                  <a:srgbClr val="334155"/>
                </a:solidFill>
              </a:rPr>
              <a:t>Broad qualitative and quantitative synthesis spanning SAT, ASP, TSP, continuous black-box optimization, and machine learning meta-learning.</a:t>
            </a:r>
          </a:p>
          <a:p>
            <a:pPr algn="l">
              <a:spcAft>
                <a:spcPts val="700"/>
              </a:spcAft>
              <a:defRPr sz="1050">
                <a:solidFill>
                  <a:srgbClr val="2563EB"/>
                </a:solidFill>
                <a:latin typeface="Segoe UI"/>
              </a:defRPr>
            </a:pPr>
            <a:r>
              <a:t>• </a:t>
            </a:r>
            <a:r>
              <a:rPr b="1">
                <a:solidFill>
                  <a:srgbClr val="0F172A"/>
                </a:solidFill>
              </a:rPr>
              <a:t>Main Finding: </a:t>
            </a:r>
            <a:r>
              <a:rPr b="0">
                <a:solidFill>
                  <a:srgbClr val="334155"/>
                </a:solidFill>
              </a:rPr>
              <a:t>While algorithm selection is widely successful, the computational overhead of computing instance features remains an acknowledged, persistent practical bottleneck that is frequently marginalized or ignored.</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Identifies feature computation cost as an open grand challenge in algorithm selection; OA-ASSP directly addresses this challenge by establishing an overhead-priced cost model that formally charges feature extraction and selector inference against available headroom.</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11 of 17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09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van der Blom &amp; Vermetten (2026) — Feature Computation Budgets</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Koen van der Blom, Diederick Vermetten, 'On the Influence of the Feature Computation Budget on Per-Instance Algorithm Selection for Black-Box Optimization', arXiv:2605.04954, 2026.</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t>• </a:t>
            </a:r>
            <a:r>
              <a:rPr b="1">
                <a:solidFill>
                  <a:srgbClr val="0F172A"/>
                </a:solidFill>
              </a:rPr>
              <a:t>Problem Addressed: </a:t>
            </a:r>
            <a:r>
              <a:rPr b="0">
                <a:solidFill>
                  <a:srgbClr val="334155"/>
                </a:solidFill>
              </a:rPr>
              <a:t>Feature extraction in per-instance algorithm selection for black-box optimization (BBO) consumes expensive function evaluations directly from a strictly bounded total optimization budget.</a:t>
            </a:r>
          </a:p>
          <a:p>
            <a:pPr algn="l">
              <a:spcAft>
                <a:spcPts val="700"/>
              </a:spcAft>
              <a:defRPr sz="1050">
                <a:solidFill>
                  <a:srgbClr val="2563EB"/>
                </a:solidFill>
                <a:latin typeface="Segoe UI"/>
              </a:defRPr>
            </a:pPr>
            <a:r>
              <a:t>• </a:t>
            </a:r>
            <a:r>
              <a:rPr b="1">
                <a:solidFill>
                  <a:srgbClr val="0F172A"/>
                </a:solidFill>
              </a:rPr>
              <a:t>Main Approach: </a:t>
            </a:r>
            <a:r>
              <a:rPr b="0">
                <a:solidFill>
                  <a:srgbClr val="334155"/>
                </a:solidFill>
              </a:rPr>
              <a:t>Systematically evaluated the trade-off of allocating varying fractions of a fixed evaluation budget to Exploratory Landscape Analysis (ELA) features across multiple algorithm portfolios and problem suites.</a:t>
            </a:r>
          </a:p>
          <a:p>
            <a:pPr algn="l">
              <a:spcAft>
                <a:spcPts val="700"/>
              </a:spcAft>
              <a:defRPr sz="1050">
                <a:solidFill>
                  <a:srgbClr val="2563EB"/>
                </a:solidFill>
                <a:latin typeface="Segoe UI"/>
              </a:defRPr>
            </a:pPr>
            <a:r>
              <a:t>• </a:t>
            </a:r>
            <a:r>
              <a:rPr b="1">
                <a:solidFill>
                  <a:srgbClr val="0F172A"/>
                </a:solidFill>
              </a:rPr>
              <a:t>Evaluation &amp; Setting: </a:t>
            </a:r>
            <a:r>
              <a:rPr b="0">
                <a:solidFill>
                  <a:srgbClr val="334155"/>
                </a:solidFill>
              </a:rPr>
              <a:t>Continuous black-box optimization benchmark suites (BBOB/COCO) evaluated across problem dimensions from 2D to 10D.</a:t>
            </a:r>
          </a:p>
          <a:p>
            <a:pPr algn="l">
              <a:spcAft>
                <a:spcPts val="700"/>
              </a:spcAft>
              <a:defRPr sz="1050">
                <a:solidFill>
                  <a:srgbClr val="2563EB"/>
                </a:solidFill>
                <a:latin typeface="Segoe UI"/>
              </a:defRPr>
            </a:pPr>
            <a:r>
              <a:t>• </a:t>
            </a:r>
            <a:r>
              <a:rPr b="1">
                <a:solidFill>
                  <a:srgbClr val="0F172A"/>
                </a:solidFill>
              </a:rPr>
              <a:t>Main Finding: </a:t>
            </a:r>
            <a:r>
              <a:rPr b="0">
                <a:solidFill>
                  <a:srgbClr val="334155"/>
                </a:solidFill>
              </a:rPr>
              <a:t>Feature extraction is not free; allocating too large a budget fraction to features degrades net optimization quality, establishing that an optimal, problem-dependent feature budget exists.</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Shares OA-ASSP's core premise that characterization costs must be paid from solver savings, but operates in an internal sample-budget setting on isolated instances, whereas OA-ASSP investigates physical wall-clock latency across repeated queries where graph features amortize over workload size Q.</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12 of 17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LITERATURE SURVEY — PAPER 10 OF 10</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Gholami Shiri et al. (2026) — Graph Instance Landscapes</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07008"/>
            <a:ext cx="10728655" cy="4754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defRPr sz="1000" b="1">
                <a:solidFill>
                  <a:srgbClr val="1A365D"/>
                </a:solidFill>
                <a:latin typeface="Segoe UI"/>
              </a:defRPr>
            </a:pPr>
            <a:r>
              <a:t>Bibliographic Reference: Nemanja Gholami Shiri, Vladan Krminac, Bogdan Djukanović, et al., 'Graph Instance Landscapes: When Structural Similarity Does (Not) Reflect Shortest-Path Performance', Proc. IEEE CEC, arXiv:2606.18267, 2026.</a:t>
            </a:r>
          </a:p>
        </p:txBody>
      </p:sp>
      <p:sp>
        <p:nvSpPr>
          <p:cNvPr id="6" name="Rounded Rectangle 5"/>
          <p:cNvSpPr/>
          <p:nvPr/>
        </p:nvSpPr>
        <p:spPr>
          <a:xfrm>
            <a:off x="731520" y="1783080"/>
            <a:ext cx="10728655"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700"/>
              </a:spcAft>
              <a:defRPr sz="1050">
                <a:solidFill>
                  <a:srgbClr val="2563EB"/>
                </a:solidFill>
                <a:latin typeface="Segoe UI"/>
              </a:defRPr>
            </a:pPr>
            <a:r>
              <a:t>• </a:t>
            </a:r>
            <a:r>
              <a:rPr b="1">
                <a:solidFill>
                  <a:srgbClr val="0F172A"/>
                </a:solidFill>
              </a:rPr>
              <a:t>Problem Addressed: </a:t>
            </a:r>
            <a:r>
              <a:rPr b="0">
                <a:solidFill>
                  <a:srgbClr val="334155"/>
                </a:solidFill>
              </a:rPr>
              <a:t>Investigating whether structural similarity in low-cost graph feature space reflects the empirical runtime distributions of exact shortest-path algorithms.</a:t>
            </a:r>
          </a:p>
          <a:p>
            <a:pPr algn="l">
              <a:spcAft>
                <a:spcPts val="700"/>
              </a:spcAft>
              <a:defRPr sz="1050">
                <a:solidFill>
                  <a:srgbClr val="2563EB"/>
                </a:solidFill>
                <a:latin typeface="Segoe UI"/>
              </a:defRPr>
            </a:pPr>
            <a:r>
              <a:t>• </a:t>
            </a:r>
            <a:r>
              <a:rPr b="1">
                <a:solidFill>
                  <a:srgbClr val="0F172A"/>
                </a:solidFill>
              </a:rPr>
              <a:t>Main Approach: </a:t>
            </a:r>
            <a:r>
              <a:rPr b="0">
                <a:solidFill>
                  <a:srgbClr val="334155"/>
                </a:solidFill>
              </a:rPr>
              <a:t>Embedded graph instances into a structural feature landscape, clustered instances into topological regions, and analyzed runtime distributions of four solvers: Dijkstra, Bidirectional Dijkstra, A*, and DEQ.</a:t>
            </a:r>
          </a:p>
          <a:p>
            <a:pPr algn="l">
              <a:spcAft>
                <a:spcPts val="700"/>
              </a:spcAft>
              <a:defRPr sz="1050">
                <a:solidFill>
                  <a:srgbClr val="2563EB"/>
                </a:solidFill>
                <a:latin typeface="Segoe UI"/>
              </a:defRPr>
            </a:pPr>
            <a:r>
              <a:t>• </a:t>
            </a:r>
            <a:r>
              <a:rPr b="1">
                <a:solidFill>
                  <a:srgbClr val="0F172A"/>
                </a:solidFill>
              </a:rPr>
              <a:t>Evaluation &amp; Setting: </a:t>
            </a:r>
            <a:r>
              <a:rPr b="0">
                <a:solidFill>
                  <a:srgbClr val="334155"/>
                </a:solidFill>
              </a:rPr>
              <a:t>Evaluated on weighted Erdős–Rényi random graphs, random geometric graphs, and real-world road network topologies.</a:t>
            </a:r>
          </a:p>
          <a:p>
            <a:pPr algn="l">
              <a:spcAft>
                <a:spcPts val="700"/>
              </a:spcAft>
              <a:defRPr sz="1050">
                <a:solidFill>
                  <a:srgbClr val="2563EB"/>
                </a:solidFill>
                <a:latin typeface="Segoe UI"/>
              </a:defRPr>
            </a:pPr>
            <a:r>
              <a:t>• </a:t>
            </a:r>
            <a:r>
              <a:rPr b="1">
                <a:solidFill>
                  <a:srgbClr val="0F172A"/>
                </a:solidFill>
              </a:rPr>
              <a:t>Main Finding: </a:t>
            </a:r>
            <a:r>
              <a:rPr b="0">
                <a:solidFill>
                  <a:srgbClr val="334155"/>
                </a:solidFill>
              </a:rPr>
              <a:t>Solver performance varies significantly across graph topological regions, but structural feature similarity does not reliably translate to performance similarity, revealing complex algorithm-landscape boundaries.</a:t>
            </a:r>
          </a:p>
        </p:txBody>
      </p:sp>
      <p:sp>
        <p:nvSpPr>
          <p:cNvPr id="7" name="Rounded Rectangle 6"/>
          <p:cNvSpPr/>
          <p:nvPr/>
        </p:nvSpPr>
        <p:spPr>
          <a:xfrm>
            <a:off x="731520" y="5029200"/>
            <a:ext cx="10728655" cy="1170432"/>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t"/>
          <a:lstStyle/>
          <a:p>
            <a:pPr algn="l">
              <a:spcAft>
                <a:spcPts val="200"/>
              </a:spcAft>
              <a:defRPr sz="950" b="1">
                <a:solidFill>
                  <a:srgbClr val="6366F1"/>
                </a:solidFill>
                <a:latin typeface="Segoe UI"/>
              </a:defRPr>
            </a:pPr>
            <a:r>
              <a:t>RELEVANCE TO OA-ASSP RESEARCH:</a:t>
            </a:r>
          </a:p>
          <a:p>
            <a:pPr algn="l">
              <a:defRPr sz="1050">
                <a:solidFill>
                  <a:srgbClr val="0F172A"/>
                </a:solidFill>
                <a:latin typeface="Segoe UI"/>
              </a:defRPr>
            </a:pPr>
            <a:r>
              <a:t>• Represents the closest prior work by examining the same solver family (Dijkstra, Bidi Dijkstra, A*) and synthetic graph topologies, directly motivating OA-ASSP to investigate whether an actual selector can economically exploit this structural diversity to pay for its own decision overhead.</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13 of 17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SYNTHESIS &amp; TAXONOMY</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Literature Comparison: Evolution of Algorithm Selection</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207008"/>
          <a:ext cx="10728655" cy="41605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2316175">
                  <a:extLst>
                    <a:ext uri="{9D8B030D-6E8A-4147-A177-3AD203B41FA5}">
                      <a16:colId xmlns:a16="http://schemas.microsoft.com/office/drawing/2014/main" val="20005"/>
                    </a:ext>
                  </a:extLst>
                </a:gridCol>
              </a:tblGrid>
              <a:tr h="378229">
                <a:tc>
                  <a:txBody>
                    <a:bodyPr/>
                    <a:lstStyle/>
                    <a:p>
                      <a:pPr algn="l">
                        <a:defRPr sz="950" b="1">
                          <a:solidFill>
                            <a:srgbClr val="FFFFFF"/>
                          </a:solidFill>
                          <a:latin typeface="Segoe UI"/>
                        </a:defRPr>
                      </a:pPr>
                      <a:r>
                        <a:t>Paper &amp; Year</a:t>
                      </a:r>
                    </a:p>
                  </a:txBody>
                  <a:tcPr marL="73152" marR="73152" marT="36576" marB="36576">
                    <a:solidFill>
                      <a:srgbClr val="1A365D"/>
                    </a:solidFill>
                  </a:tcPr>
                </a:tc>
                <a:tc>
                  <a:txBody>
                    <a:bodyPr/>
                    <a:lstStyle/>
                    <a:p>
                      <a:pPr algn="l">
                        <a:defRPr sz="950" b="1">
                          <a:solidFill>
                            <a:srgbClr val="FFFFFF"/>
                          </a:solidFill>
                          <a:latin typeface="Segoe UI"/>
                        </a:defRPr>
                      </a:pPr>
                      <a:r>
                        <a:t>Problem Domain</a:t>
                      </a:r>
                    </a:p>
                  </a:txBody>
                  <a:tcPr marL="73152" marR="73152" marT="36576" marB="36576">
                    <a:solidFill>
                      <a:srgbClr val="1A365D"/>
                    </a:solidFill>
                  </a:tcPr>
                </a:tc>
                <a:tc>
                  <a:txBody>
                    <a:bodyPr/>
                    <a:lstStyle/>
                    <a:p>
                      <a:pPr algn="l">
                        <a:defRPr sz="950" b="1">
                          <a:solidFill>
                            <a:srgbClr val="FFFFFF"/>
                          </a:solidFill>
                          <a:latin typeface="Segoe UI"/>
                        </a:defRPr>
                      </a:pPr>
                      <a:r>
                        <a:t>Portfolio / Solvers</a:t>
                      </a:r>
                    </a:p>
                  </a:txBody>
                  <a:tcPr marL="73152" marR="73152" marT="36576" marB="36576">
                    <a:solidFill>
                      <a:srgbClr val="1A365D"/>
                    </a:solidFill>
                  </a:tcPr>
                </a:tc>
                <a:tc>
                  <a:txBody>
                    <a:bodyPr/>
                    <a:lstStyle/>
                    <a:p>
                      <a:pPr algn="l">
                        <a:defRPr sz="950" b="1">
                          <a:solidFill>
                            <a:srgbClr val="FFFFFF"/>
                          </a:solidFill>
                          <a:latin typeface="Segoe UI"/>
                        </a:defRPr>
                      </a:pPr>
                      <a:r>
                        <a:t>Features Used</a:t>
                      </a:r>
                    </a:p>
                  </a:txBody>
                  <a:tcPr marL="73152" marR="73152" marT="36576" marB="36576">
                    <a:solidFill>
                      <a:srgbClr val="1A365D"/>
                    </a:solidFill>
                  </a:tcPr>
                </a:tc>
                <a:tc>
                  <a:txBody>
                    <a:bodyPr/>
                    <a:lstStyle/>
                    <a:p>
                      <a:pPr algn="l">
                        <a:defRPr sz="950" b="1">
                          <a:solidFill>
                            <a:srgbClr val="FFFFFF"/>
                          </a:solidFill>
                          <a:latin typeface="Segoe UI"/>
                        </a:defRPr>
                      </a:pPr>
                      <a:r>
                        <a:t>Overhead Accounting</a:t>
                      </a:r>
                    </a:p>
                  </a:txBody>
                  <a:tcPr marL="73152" marR="73152" marT="36576" marB="36576">
                    <a:solidFill>
                      <a:srgbClr val="1A365D"/>
                    </a:solidFill>
                  </a:tcPr>
                </a:tc>
                <a:tc>
                  <a:txBody>
                    <a:bodyPr/>
                    <a:lstStyle/>
                    <a:p>
                      <a:pPr algn="l">
                        <a:defRPr sz="950" b="1">
                          <a:solidFill>
                            <a:srgbClr val="FFFFFF"/>
                          </a:solidFill>
                          <a:latin typeface="Segoe UI"/>
                        </a:defRPr>
                      </a:pPr>
                      <a:r>
                        <a:t>Key Finding &amp; Gap to OA-ASSP</a:t>
                      </a:r>
                    </a:p>
                  </a:txBody>
                  <a:tcPr marL="73152" marR="73152" marT="36576" marB="36576">
                    <a:solidFill>
                      <a:srgbClr val="1A365D"/>
                    </a:solidFill>
                  </a:tcPr>
                </a:tc>
                <a:extLst>
                  <a:ext uri="{0D108BD9-81ED-4DB2-BD59-A6C34878D82A}">
                    <a16:rowId xmlns:a16="http://schemas.microsoft.com/office/drawing/2014/main" val="10000"/>
                  </a:ext>
                </a:extLst>
              </a:tr>
              <a:tr h="378229">
                <a:tc>
                  <a:txBody>
                    <a:bodyPr/>
                    <a:lstStyle/>
                    <a:p>
                      <a:pPr algn="l">
                        <a:defRPr sz="850">
                          <a:solidFill>
                            <a:srgbClr val="0F172A"/>
                          </a:solidFill>
                          <a:latin typeface="Segoe UI"/>
                        </a:defRPr>
                      </a:pPr>
                      <a:r>
                        <a:t>Rice (1976)</a:t>
                      </a:r>
                    </a:p>
                  </a:txBody>
                  <a:tcPr marL="73152" marR="73152" marT="36576" marB="36576">
                    <a:solidFill>
                      <a:srgbClr val="F8FAFC"/>
                    </a:solidFill>
                  </a:tcPr>
                </a:tc>
                <a:tc>
                  <a:txBody>
                    <a:bodyPr/>
                    <a:lstStyle/>
                    <a:p>
                      <a:pPr algn="l">
                        <a:defRPr sz="850">
                          <a:solidFill>
                            <a:srgbClr val="0F172A"/>
                          </a:solidFill>
                          <a:latin typeface="Segoe UI"/>
                        </a:defRPr>
                      </a:pPr>
                      <a:r>
                        <a:t>Mathematical Software</a:t>
                      </a:r>
                    </a:p>
                  </a:txBody>
                  <a:tcPr marL="73152" marR="73152" marT="36576" marB="36576">
                    <a:solidFill>
                      <a:srgbClr val="F8FAFC"/>
                    </a:solidFill>
                  </a:tcPr>
                </a:tc>
                <a:tc>
                  <a:txBody>
                    <a:bodyPr/>
                    <a:lstStyle/>
                    <a:p>
                      <a:pPr algn="l">
                        <a:defRPr sz="850">
                          <a:solidFill>
                            <a:srgbClr val="0F172A"/>
                          </a:solidFill>
                          <a:latin typeface="Segoe UI"/>
                        </a:defRPr>
                      </a:pPr>
                      <a:r>
                        <a:t>Abstract Algorithm Portfolio</a:t>
                      </a:r>
                    </a:p>
                  </a:txBody>
                  <a:tcPr marL="73152" marR="73152" marT="36576" marB="36576">
                    <a:solidFill>
                      <a:srgbClr val="F8FAFC"/>
                    </a:solidFill>
                  </a:tcPr>
                </a:tc>
                <a:tc>
                  <a:txBody>
                    <a:bodyPr/>
                    <a:lstStyle/>
                    <a:p>
                      <a:pPr algn="l">
                        <a:defRPr sz="850">
                          <a:solidFill>
                            <a:srgbClr val="0F172A"/>
                          </a:solidFill>
                          <a:latin typeface="Segoe UI"/>
                        </a:defRPr>
                      </a:pPr>
                      <a:r>
                        <a:t>Instance Characteristics</a:t>
                      </a:r>
                    </a:p>
                  </a:txBody>
                  <a:tcPr marL="73152" marR="73152" marT="36576" marB="36576">
                    <a:solidFill>
                      <a:srgbClr val="F8FAFC"/>
                    </a:solidFill>
                  </a:tcPr>
                </a:tc>
                <a:tc>
                  <a:txBody>
                    <a:bodyPr/>
                    <a:lstStyle/>
                    <a:p>
                      <a:pPr algn="l">
                        <a:defRPr sz="850">
                          <a:solidFill>
                            <a:srgbClr val="0F172A"/>
                          </a:solidFill>
                          <a:latin typeface="Segoe UI"/>
                        </a:defRPr>
                      </a:pPr>
                      <a:r>
                        <a:t>Assumed negligible (zero cost)</a:t>
                      </a:r>
                    </a:p>
                  </a:txBody>
                  <a:tcPr marL="73152" marR="73152" marT="36576" marB="36576">
                    <a:solidFill>
                      <a:srgbClr val="F8FAFC"/>
                    </a:solidFill>
                  </a:tcPr>
                </a:tc>
                <a:tc>
                  <a:txBody>
                    <a:bodyPr/>
                    <a:lstStyle/>
                    <a:p>
                      <a:pPr algn="l">
                        <a:defRPr sz="850">
                          <a:solidFill>
                            <a:srgbClr val="0F172A"/>
                          </a:solidFill>
                          <a:latin typeface="Segoe UI"/>
                        </a:defRPr>
                      </a:pPr>
                      <a:r>
                        <a:t>Foundational 4-space model; ignores feature and inference latency.</a:t>
                      </a:r>
                    </a:p>
                  </a:txBody>
                  <a:tcPr marL="73152" marR="73152" marT="36576" marB="36576">
                    <a:solidFill>
                      <a:srgbClr val="F8FAFC"/>
                    </a:solidFill>
                  </a:tcPr>
                </a:tc>
                <a:extLst>
                  <a:ext uri="{0D108BD9-81ED-4DB2-BD59-A6C34878D82A}">
                    <a16:rowId xmlns:a16="http://schemas.microsoft.com/office/drawing/2014/main" val="10001"/>
                  </a:ext>
                </a:extLst>
              </a:tr>
              <a:tr h="378229">
                <a:tc>
                  <a:txBody>
                    <a:bodyPr/>
                    <a:lstStyle/>
                    <a:p>
                      <a:pPr algn="l">
                        <a:defRPr sz="850">
                          <a:solidFill>
                            <a:srgbClr val="0F172A"/>
                          </a:solidFill>
                          <a:latin typeface="Segoe UI"/>
                        </a:defRPr>
                      </a:pPr>
                      <a:r>
                        <a:t>Xu et al. (2008) [SATzilla]</a:t>
                      </a:r>
                    </a:p>
                  </a:txBody>
                  <a:tcPr marL="73152" marR="73152" marT="36576" marB="36576">
                    <a:solidFill>
                      <a:srgbClr val="FFFFFF"/>
                    </a:solidFill>
                  </a:tcPr>
                </a:tc>
                <a:tc>
                  <a:txBody>
                    <a:bodyPr/>
                    <a:lstStyle/>
                    <a:p>
                      <a:pPr algn="l">
                        <a:defRPr sz="850">
                          <a:solidFill>
                            <a:srgbClr val="0F172A"/>
                          </a:solidFill>
                          <a:latin typeface="Segoe UI"/>
                        </a:defRPr>
                      </a:pPr>
                      <a:r>
                        <a:t>Propositional Satisfiability</a:t>
                      </a:r>
                    </a:p>
                  </a:txBody>
                  <a:tcPr marL="73152" marR="73152" marT="36576" marB="36576">
                    <a:solidFill>
                      <a:srgbClr val="FFFFFF"/>
                    </a:solidFill>
                  </a:tcPr>
                </a:tc>
                <a:tc>
                  <a:txBody>
                    <a:bodyPr/>
                    <a:lstStyle/>
                    <a:p>
                      <a:pPr algn="l">
                        <a:defRPr sz="850">
                          <a:solidFill>
                            <a:srgbClr val="0F172A"/>
                          </a:solidFill>
                          <a:latin typeface="Segoe UI"/>
                        </a:defRPr>
                      </a:pPr>
                      <a:r>
                        <a:t>ZChaff, MiniSAT, March, etc.</a:t>
                      </a:r>
                    </a:p>
                  </a:txBody>
                  <a:tcPr marL="73152" marR="73152" marT="36576" marB="36576">
                    <a:solidFill>
                      <a:srgbClr val="FFFFFF"/>
                    </a:solidFill>
                  </a:tcPr>
                </a:tc>
                <a:tc>
                  <a:txBody>
                    <a:bodyPr/>
                    <a:lstStyle/>
                    <a:p>
                      <a:pPr algn="l">
                        <a:defRPr sz="850">
                          <a:solidFill>
                            <a:srgbClr val="0F172A"/>
                          </a:solidFill>
                          <a:latin typeface="Segoe UI"/>
                        </a:defRPr>
                      </a:pPr>
                      <a:r>
                        <a:t>Syntactic formula features</a:t>
                      </a:r>
                    </a:p>
                  </a:txBody>
                  <a:tcPr marL="73152" marR="73152" marT="36576" marB="36576">
                    <a:solidFill>
                      <a:srgbClr val="FFFFFF"/>
                    </a:solidFill>
                  </a:tcPr>
                </a:tc>
                <a:tc>
                  <a:txBody>
                    <a:bodyPr/>
                    <a:lstStyle/>
                    <a:p>
                      <a:pPr algn="l">
                        <a:defRPr sz="850">
                          <a:solidFill>
                            <a:srgbClr val="0F172A"/>
                          </a:solidFill>
                          <a:latin typeface="Segoe UI"/>
                        </a:defRPr>
                      </a:pPr>
                      <a:r>
                        <a:t>Charged against multi-second runs</a:t>
                      </a:r>
                    </a:p>
                  </a:txBody>
                  <a:tcPr marL="73152" marR="73152" marT="36576" marB="36576">
                    <a:solidFill>
                      <a:srgbClr val="FFFFFF"/>
                    </a:solidFill>
                  </a:tcPr>
                </a:tc>
                <a:tc>
                  <a:txBody>
                    <a:bodyPr/>
                    <a:lstStyle/>
                    <a:p>
                      <a:pPr algn="l">
                        <a:defRPr sz="850">
                          <a:solidFill>
                            <a:srgbClr val="0F172A"/>
                          </a:solidFill>
                          <a:latin typeface="Segoe UI"/>
                        </a:defRPr>
                      </a:pPr>
                      <a:r>
                        <a:t>Huge gains on compute-heavy tasks; overhead absorbed by long runtimes.</a:t>
                      </a:r>
                    </a:p>
                  </a:txBody>
                  <a:tcPr marL="73152" marR="73152" marT="36576" marB="36576">
                    <a:solidFill>
                      <a:srgbClr val="FFFFFF"/>
                    </a:solidFill>
                  </a:tcPr>
                </a:tc>
                <a:extLst>
                  <a:ext uri="{0D108BD9-81ED-4DB2-BD59-A6C34878D82A}">
                    <a16:rowId xmlns:a16="http://schemas.microsoft.com/office/drawing/2014/main" val="10002"/>
                  </a:ext>
                </a:extLst>
              </a:tr>
              <a:tr h="378229">
                <a:tc>
                  <a:txBody>
                    <a:bodyPr/>
                    <a:lstStyle/>
                    <a:p>
                      <a:pPr algn="l">
                        <a:defRPr sz="850">
                          <a:solidFill>
                            <a:srgbClr val="0F172A"/>
                          </a:solidFill>
                          <a:latin typeface="Segoe UI"/>
                        </a:defRPr>
                      </a:pPr>
                      <a:r>
                        <a:t>Hutter et al. (2014)</a:t>
                      </a:r>
                    </a:p>
                  </a:txBody>
                  <a:tcPr marL="73152" marR="73152" marT="36576" marB="36576">
                    <a:solidFill>
                      <a:srgbClr val="F8FAFC"/>
                    </a:solidFill>
                  </a:tcPr>
                </a:tc>
                <a:tc>
                  <a:txBody>
                    <a:bodyPr/>
                    <a:lstStyle/>
                    <a:p>
                      <a:pPr algn="l">
                        <a:defRPr sz="850">
                          <a:solidFill>
                            <a:srgbClr val="0F172A"/>
                          </a:solidFill>
                          <a:latin typeface="Segoe UI"/>
                        </a:defRPr>
                      </a:pPr>
                      <a:r>
                        <a:t>SAT, MIP, TSP</a:t>
                      </a:r>
                    </a:p>
                  </a:txBody>
                  <a:tcPr marL="73152" marR="73152" marT="36576" marB="36576">
                    <a:solidFill>
                      <a:srgbClr val="F8FAFC"/>
                    </a:solidFill>
                  </a:tcPr>
                </a:tc>
                <a:tc>
                  <a:txBody>
                    <a:bodyPr/>
                    <a:lstStyle/>
                    <a:p>
                      <a:pPr algn="l">
                        <a:defRPr sz="850">
                          <a:solidFill>
                            <a:srgbClr val="0F172A"/>
                          </a:solidFill>
                          <a:latin typeface="Segoe UI"/>
                        </a:defRPr>
                      </a:pPr>
                      <a:r>
                        <a:t>Exact &amp; Stochastic Solvers</a:t>
                      </a:r>
                    </a:p>
                  </a:txBody>
                  <a:tcPr marL="73152" marR="73152" marT="36576" marB="36576">
                    <a:solidFill>
                      <a:srgbClr val="F8FAFC"/>
                    </a:solidFill>
                  </a:tcPr>
                </a:tc>
                <a:tc>
                  <a:txBody>
                    <a:bodyPr/>
                    <a:lstStyle/>
                    <a:p>
                      <a:pPr algn="l">
                        <a:defRPr sz="850">
                          <a:solidFill>
                            <a:srgbClr val="0F172A"/>
                          </a:solidFill>
                          <a:latin typeface="Segoe UI"/>
                        </a:defRPr>
                      </a:pPr>
                      <a:r>
                        <a:t>Clause/matrix/graph stats</a:t>
                      </a:r>
                    </a:p>
                  </a:txBody>
                  <a:tcPr marL="73152" marR="73152" marT="36576" marB="36576">
                    <a:solidFill>
                      <a:srgbClr val="F8FAFC"/>
                    </a:solidFill>
                  </a:tcPr>
                </a:tc>
                <a:tc>
                  <a:txBody>
                    <a:bodyPr/>
                    <a:lstStyle/>
                    <a:p>
                      <a:pPr algn="l">
                        <a:defRPr sz="850">
                          <a:solidFill>
                            <a:srgbClr val="0F172A"/>
                          </a:solidFill>
                          <a:latin typeface="Segoe UI"/>
                        </a:defRPr>
                      </a:pPr>
                      <a:r>
                        <a:t>Separated offline pre-computation</a:t>
                      </a:r>
                    </a:p>
                  </a:txBody>
                  <a:tcPr marL="73152" marR="73152" marT="36576" marB="36576">
                    <a:solidFill>
                      <a:srgbClr val="F8FAFC"/>
                    </a:solidFill>
                  </a:tcPr>
                </a:tc>
                <a:tc>
                  <a:txBody>
                    <a:bodyPr/>
                    <a:lstStyle/>
                    <a:p>
                      <a:pPr algn="l">
                        <a:defRPr sz="850">
                          <a:solidFill>
                            <a:srgbClr val="0F172A"/>
                          </a:solidFill>
                          <a:latin typeface="Segoe UI"/>
                        </a:defRPr>
                      </a:pPr>
                      <a:r>
                        <a:t>Random forests predict runtime accurately; motivates regret-aware loss.</a:t>
                      </a:r>
                    </a:p>
                  </a:txBody>
                  <a:tcPr marL="73152" marR="73152" marT="36576" marB="36576">
                    <a:solidFill>
                      <a:srgbClr val="F8FAFC"/>
                    </a:solidFill>
                  </a:tcPr>
                </a:tc>
                <a:extLst>
                  <a:ext uri="{0D108BD9-81ED-4DB2-BD59-A6C34878D82A}">
                    <a16:rowId xmlns:a16="http://schemas.microsoft.com/office/drawing/2014/main" val="10003"/>
                  </a:ext>
                </a:extLst>
              </a:tr>
              <a:tr h="378229">
                <a:tc>
                  <a:txBody>
                    <a:bodyPr/>
                    <a:lstStyle/>
                    <a:p>
                      <a:pPr algn="l">
                        <a:defRPr sz="850">
                          <a:solidFill>
                            <a:srgbClr val="0F172A"/>
                          </a:solidFill>
                          <a:latin typeface="Segoe UI"/>
                        </a:defRPr>
                      </a:pPr>
                      <a:r>
                        <a:t>Kotthoff (2014) [LLAMA]</a:t>
                      </a:r>
                    </a:p>
                  </a:txBody>
                  <a:tcPr marL="73152" marR="73152" marT="36576" marB="36576">
                    <a:solidFill>
                      <a:srgbClr val="FFFFFF"/>
                    </a:solidFill>
                  </a:tcPr>
                </a:tc>
                <a:tc>
                  <a:txBody>
                    <a:bodyPr/>
                    <a:lstStyle/>
                    <a:p>
                      <a:pPr algn="l">
                        <a:defRPr sz="850">
                          <a:solidFill>
                            <a:srgbClr val="0F172A"/>
                          </a:solidFill>
                          <a:latin typeface="Segoe UI"/>
                        </a:defRPr>
                      </a:pPr>
                      <a:r>
                        <a:t>Combinatorial Optimization</a:t>
                      </a:r>
                    </a:p>
                  </a:txBody>
                  <a:tcPr marL="73152" marR="73152" marT="36576" marB="36576">
                    <a:solidFill>
                      <a:srgbClr val="FFFFFF"/>
                    </a:solidFill>
                  </a:tcPr>
                </a:tc>
                <a:tc>
                  <a:txBody>
                    <a:bodyPr/>
                    <a:lstStyle/>
                    <a:p>
                      <a:pPr algn="l">
                        <a:defRPr sz="850">
                          <a:solidFill>
                            <a:srgbClr val="0F172A"/>
                          </a:solidFill>
                          <a:latin typeface="Segoe UI"/>
                        </a:defRPr>
                      </a:pPr>
                      <a:r>
                        <a:t>Generic user portfolios</a:t>
                      </a:r>
                    </a:p>
                  </a:txBody>
                  <a:tcPr marL="73152" marR="73152" marT="36576" marB="36576">
                    <a:solidFill>
                      <a:srgbClr val="FFFFFF"/>
                    </a:solidFill>
                  </a:tcPr>
                </a:tc>
                <a:tc>
                  <a:txBody>
                    <a:bodyPr/>
                    <a:lstStyle/>
                    <a:p>
                      <a:pPr algn="l">
                        <a:defRPr sz="850">
                          <a:solidFill>
                            <a:srgbClr val="0F172A"/>
                          </a:solidFill>
                          <a:latin typeface="Segoe UI"/>
                        </a:defRPr>
                      </a:pPr>
                      <a:r>
                        <a:t>Domain-specific feature vectors</a:t>
                      </a:r>
                    </a:p>
                  </a:txBody>
                  <a:tcPr marL="73152" marR="73152" marT="36576" marB="36576">
                    <a:solidFill>
                      <a:srgbClr val="FFFFFF"/>
                    </a:solidFill>
                  </a:tcPr>
                </a:tc>
                <a:tc>
                  <a:txBody>
                    <a:bodyPr/>
                    <a:lstStyle/>
                    <a:p>
                      <a:pPr algn="l">
                        <a:defRPr sz="850">
                          <a:solidFill>
                            <a:srgbClr val="0F172A"/>
                          </a:solidFill>
                          <a:latin typeface="Segoe UI"/>
                        </a:defRPr>
                      </a:pPr>
                      <a:r>
                        <a:t>Feature-cost filtering supported</a:t>
                      </a:r>
                    </a:p>
                  </a:txBody>
                  <a:tcPr marL="73152" marR="73152" marT="36576" marB="36576">
                    <a:solidFill>
                      <a:srgbClr val="FFFFFF"/>
                    </a:solidFill>
                  </a:tcPr>
                </a:tc>
                <a:tc>
                  <a:txBody>
                    <a:bodyPr/>
                    <a:lstStyle/>
                    <a:p>
                      <a:pPr algn="l">
                        <a:defRPr sz="850">
                          <a:solidFill>
                            <a:srgbClr val="0F172A"/>
                          </a:solidFill>
                          <a:latin typeface="Segoe UI"/>
                        </a:defRPr>
                      </a:pPr>
                      <a:r>
                        <a:t>Standard modular toolkit; lacks fine-grained microsecond overhead tracking.</a:t>
                      </a:r>
                    </a:p>
                  </a:txBody>
                  <a:tcPr marL="73152" marR="73152" marT="36576" marB="36576">
                    <a:solidFill>
                      <a:srgbClr val="FFFFFF"/>
                    </a:solidFill>
                  </a:tcPr>
                </a:tc>
                <a:extLst>
                  <a:ext uri="{0D108BD9-81ED-4DB2-BD59-A6C34878D82A}">
                    <a16:rowId xmlns:a16="http://schemas.microsoft.com/office/drawing/2014/main" val="10004"/>
                  </a:ext>
                </a:extLst>
              </a:tr>
              <a:tr h="378229">
                <a:tc>
                  <a:txBody>
                    <a:bodyPr/>
                    <a:lstStyle/>
                    <a:p>
                      <a:pPr algn="l">
                        <a:defRPr sz="850">
                          <a:solidFill>
                            <a:srgbClr val="0F172A"/>
                          </a:solidFill>
                          <a:latin typeface="Segoe UI"/>
                        </a:defRPr>
                      </a:pPr>
                      <a:r>
                        <a:t>Lindauer et al. (2015) [AutoFolio]</a:t>
                      </a:r>
                    </a:p>
                  </a:txBody>
                  <a:tcPr marL="73152" marR="73152" marT="36576" marB="36576">
                    <a:solidFill>
                      <a:srgbClr val="F8FAFC"/>
                    </a:solidFill>
                  </a:tcPr>
                </a:tc>
                <a:tc>
                  <a:txBody>
                    <a:bodyPr/>
                    <a:lstStyle/>
                    <a:p>
                      <a:pPr algn="l">
                        <a:defRPr sz="850">
                          <a:solidFill>
                            <a:srgbClr val="0F172A"/>
                          </a:solidFill>
                          <a:latin typeface="Segoe UI"/>
                        </a:defRPr>
                      </a:pPr>
                      <a:r>
                        <a:t>ASlib Scenarios (SAT/ASP/QBF)</a:t>
                      </a:r>
                    </a:p>
                  </a:txBody>
                  <a:tcPr marL="73152" marR="73152" marT="36576" marB="36576">
                    <a:solidFill>
                      <a:srgbClr val="F8FAFC"/>
                    </a:solidFill>
                  </a:tcPr>
                </a:tc>
                <a:tc>
                  <a:txBody>
                    <a:bodyPr/>
                    <a:lstStyle/>
                    <a:p>
                      <a:pPr algn="l">
                        <a:defRPr sz="850">
                          <a:solidFill>
                            <a:srgbClr val="0F172A"/>
                          </a:solidFill>
                          <a:latin typeface="Segoe UI"/>
                        </a:defRPr>
                      </a:pPr>
                      <a:r>
                        <a:t>Portfolio across 13 domains</a:t>
                      </a:r>
                    </a:p>
                  </a:txBody>
                  <a:tcPr marL="73152" marR="73152" marT="36576" marB="36576">
                    <a:solidFill>
                      <a:srgbClr val="F8FAFC"/>
                    </a:solidFill>
                  </a:tcPr>
                </a:tc>
                <a:tc>
                  <a:txBody>
                    <a:bodyPr/>
                    <a:lstStyle/>
                    <a:p>
                      <a:pPr algn="l">
                        <a:defRPr sz="850">
                          <a:solidFill>
                            <a:srgbClr val="0F172A"/>
                          </a:solidFill>
                          <a:latin typeface="Segoe UI"/>
                        </a:defRPr>
                      </a:pPr>
                      <a:r>
                        <a:t>Automated feature selection</a:t>
                      </a:r>
                    </a:p>
                  </a:txBody>
                  <a:tcPr marL="73152" marR="73152" marT="36576" marB="36576">
                    <a:solidFill>
                      <a:srgbClr val="F8FAFC"/>
                    </a:solidFill>
                  </a:tcPr>
                </a:tc>
                <a:tc>
                  <a:txBody>
                    <a:bodyPr/>
                    <a:lstStyle/>
                    <a:p>
                      <a:pPr algn="l">
                        <a:defRPr sz="850">
                          <a:solidFill>
                            <a:srgbClr val="0F172A"/>
                          </a:solidFill>
                          <a:latin typeface="Segoe UI"/>
                        </a:defRPr>
                      </a:pPr>
                      <a:r>
                        <a:t>Pre-solving schedule budgeted</a:t>
                      </a:r>
                    </a:p>
                  </a:txBody>
                  <a:tcPr marL="73152" marR="73152" marT="36576" marB="36576">
                    <a:solidFill>
                      <a:srgbClr val="F8FAFC"/>
                    </a:solidFill>
                  </a:tcPr>
                </a:tc>
                <a:tc>
                  <a:txBody>
                    <a:bodyPr/>
                    <a:lstStyle/>
                    <a:p>
                      <a:pPr algn="l">
                        <a:defRPr sz="850">
                          <a:solidFill>
                            <a:srgbClr val="0F172A"/>
                          </a:solidFill>
                          <a:latin typeface="Segoe UI"/>
                        </a:defRPr>
                      </a:pPr>
                      <a:r>
                        <a:t>SMAC configures selectors; features treated as static instance properties.</a:t>
                      </a:r>
                    </a:p>
                  </a:txBody>
                  <a:tcPr marL="73152" marR="73152" marT="36576" marB="36576">
                    <a:solidFill>
                      <a:srgbClr val="F8FAFC"/>
                    </a:solidFill>
                  </a:tcPr>
                </a:tc>
                <a:extLst>
                  <a:ext uri="{0D108BD9-81ED-4DB2-BD59-A6C34878D82A}">
                    <a16:rowId xmlns:a16="http://schemas.microsoft.com/office/drawing/2014/main" val="10005"/>
                  </a:ext>
                </a:extLst>
              </a:tr>
              <a:tr h="378229">
                <a:tc>
                  <a:txBody>
                    <a:bodyPr/>
                    <a:lstStyle/>
                    <a:p>
                      <a:pPr algn="l">
                        <a:defRPr sz="850">
                          <a:solidFill>
                            <a:srgbClr val="0F172A"/>
                          </a:solidFill>
                          <a:latin typeface="Segoe UI"/>
                        </a:defRPr>
                      </a:pPr>
                      <a:r>
                        <a:t>Bischl et al. (2016) [ASlib]</a:t>
                      </a:r>
                    </a:p>
                  </a:txBody>
                  <a:tcPr marL="73152" marR="73152" marT="36576" marB="36576">
                    <a:solidFill>
                      <a:srgbClr val="FFFFFF"/>
                    </a:solidFill>
                  </a:tcPr>
                </a:tc>
                <a:tc>
                  <a:txBody>
                    <a:bodyPr/>
                    <a:lstStyle/>
                    <a:p>
                      <a:pPr algn="l">
                        <a:defRPr sz="850">
                          <a:solidFill>
                            <a:srgbClr val="0F172A"/>
                          </a:solidFill>
                          <a:latin typeface="Segoe UI"/>
                        </a:defRPr>
                      </a:pPr>
                      <a:r>
                        <a:t>Benchmarking Library</a:t>
                      </a:r>
                    </a:p>
                  </a:txBody>
                  <a:tcPr marL="73152" marR="73152" marT="36576" marB="36576">
                    <a:solidFill>
                      <a:srgbClr val="FFFFFF"/>
                    </a:solidFill>
                  </a:tcPr>
                </a:tc>
                <a:tc>
                  <a:txBody>
                    <a:bodyPr/>
                    <a:lstStyle/>
                    <a:p>
                      <a:pPr algn="l">
                        <a:defRPr sz="850">
                          <a:solidFill>
                            <a:srgbClr val="0F172A"/>
                          </a:solidFill>
                          <a:latin typeface="Segoe UI"/>
                        </a:defRPr>
                      </a:pPr>
                      <a:r>
                        <a:t>17 Diverse Benchmark Scenarios</a:t>
                      </a:r>
                    </a:p>
                  </a:txBody>
                  <a:tcPr marL="73152" marR="73152" marT="36576" marB="36576">
                    <a:solidFill>
                      <a:srgbClr val="FFFFFF"/>
                    </a:solidFill>
                  </a:tcPr>
                </a:tc>
                <a:tc>
                  <a:txBody>
                    <a:bodyPr/>
                    <a:lstStyle/>
                    <a:p>
                      <a:pPr algn="l">
                        <a:defRPr sz="850">
                          <a:solidFill>
                            <a:srgbClr val="0F172A"/>
                          </a:solidFill>
                          <a:latin typeface="Segoe UI"/>
                        </a:defRPr>
                      </a:pPr>
                      <a:r>
                        <a:t>Extensive domain features</a:t>
                      </a:r>
                    </a:p>
                  </a:txBody>
                  <a:tcPr marL="73152" marR="73152" marT="36576" marB="36576">
                    <a:solidFill>
                      <a:srgbClr val="FFFFFF"/>
                    </a:solidFill>
                  </a:tcPr>
                </a:tc>
                <a:tc>
                  <a:txBody>
                    <a:bodyPr/>
                    <a:lstStyle/>
                    <a:p>
                      <a:pPr algn="l">
                        <a:defRPr sz="850">
                          <a:solidFill>
                            <a:srgbClr val="0F172A"/>
                          </a:solidFill>
                          <a:latin typeface="Segoe UI"/>
                        </a:defRPr>
                      </a:pPr>
                      <a:r>
                        <a:t>Recorded feature execution times</a:t>
                      </a:r>
                    </a:p>
                  </a:txBody>
                  <a:tcPr marL="73152" marR="73152" marT="36576" marB="36576">
                    <a:solidFill>
                      <a:srgbClr val="FFFFFF"/>
                    </a:solidFill>
                  </a:tcPr>
                </a:tc>
                <a:tc>
                  <a:txBody>
                    <a:bodyPr/>
                    <a:lstStyle/>
                    <a:p>
                      <a:pPr algn="l">
                        <a:defRPr sz="850">
                          <a:solidFill>
                            <a:srgbClr val="0F172A"/>
                          </a:solidFill>
                          <a:latin typeface="Segoe UI"/>
                        </a:defRPr>
                      </a:pPr>
                      <a:r>
                        <a:t>Formalized SBS, VBS, and Oracle Gap baselines adopted by OA-ASSP.</a:t>
                      </a:r>
                    </a:p>
                  </a:txBody>
                  <a:tcPr marL="73152" marR="73152" marT="36576" marB="36576">
                    <a:solidFill>
                      <a:srgbClr val="FFFFFF"/>
                    </a:solidFill>
                  </a:tcPr>
                </a:tc>
                <a:extLst>
                  <a:ext uri="{0D108BD9-81ED-4DB2-BD59-A6C34878D82A}">
                    <a16:rowId xmlns:a16="http://schemas.microsoft.com/office/drawing/2014/main" val="10006"/>
                  </a:ext>
                </a:extLst>
              </a:tr>
              <a:tr h="378229">
                <a:tc>
                  <a:txBody>
                    <a:bodyPr/>
                    <a:lstStyle/>
                    <a:p>
                      <a:pPr algn="l">
                        <a:defRPr sz="850">
                          <a:solidFill>
                            <a:srgbClr val="0F172A"/>
                          </a:solidFill>
                          <a:latin typeface="Segoe UI"/>
                        </a:defRPr>
                      </a:pPr>
                      <a:r>
                        <a:t>Bast et al. (2016)</a:t>
                      </a:r>
                    </a:p>
                  </a:txBody>
                  <a:tcPr marL="73152" marR="73152" marT="36576" marB="36576">
                    <a:solidFill>
                      <a:srgbClr val="F8FAFC"/>
                    </a:solidFill>
                  </a:tcPr>
                </a:tc>
                <a:tc>
                  <a:txBody>
                    <a:bodyPr/>
                    <a:lstStyle/>
                    <a:p>
                      <a:pPr algn="l">
                        <a:defRPr sz="850">
                          <a:solidFill>
                            <a:srgbClr val="0F172A"/>
                          </a:solidFill>
                          <a:latin typeface="Segoe UI"/>
                        </a:defRPr>
                      </a:pPr>
                      <a:r>
                        <a:t>Road Network Routing</a:t>
                      </a:r>
                    </a:p>
                  </a:txBody>
                  <a:tcPr marL="73152" marR="73152" marT="36576" marB="36576">
                    <a:solidFill>
                      <a:srgbClr val="F8FAFC"/>
                    </a:solidFill>
                  </a:tcPr>
                </a:tc>
                <a:tc>
                  <a:txBody>
                    <a:bodyPr/>
                    <a:lstStyle/>
                    <a:p>
                      <a:pPr algn="l">
                        <a:defRPr sz="850">
                          <a:solidFill>
                            <a:srgbClr val="0F172A"/>
                          </a:solidFill>
                          <a:latin typeface="Segoe UI"/>
                        </a:defRPr>
                      </a:pPr>
                      <a:r>
                        <a:t>Dijkstra, Bidi, A*, CH, TNR</a:t>
                      </a:r>
                    </a:p>
                  </a:txBody>
                  <a:tcPr marL="73152" marR="73152" marT="36576" marB="36576">
                    <a:solidFill>
                      <a:srgbClr val="F8FAFC"/>
                    </a:solidFill>
                  </a:tcPr>
                </a:tc>
                <a:tc>
                  <a:txBody>
                    <a:bodyPr/>
                    <a:lstStyle/>
                    <a:p>
                      <a:pPr algn="l">
                        <a:defRPr sz="850">
                          <a:solidFill>
                            <a:srgbClr val="0F172A"/>
                          </a:solidFill>
                          <a:latin typeface="Segoe UI"/>
                        </a:defRPr>
                      </a:pPr>
                      <a:r>
                        <a:t>Network coordinates, hierarchy</a:t>
                      </a:r>
                    </a:p>
                  </a:txBody>
                  <a:tcPr marL="73152" marR="73152" marT="36576" marB="36576">
                    <a:solidFill>
                      <a:srgbClr val="F8FAFC"/>
                    </a:solidFill>
                  </a:tcPr>
                </a:tc>
                <a:tc>
                  <a:txBody>
                    <a:bodyPr/>
                    <a:lstStyle/>
                    <a:p>
                      <a:pPr algn="l">
                        <a:defRPr sz="850">
                          <a:solidFill>
                            <a:srgbClr val="0F172A"/>
                          </a:solidFill>
                          <a:latin typeface="Segoe UI"/>
                        </a:defRPr>
                      </a:pPr>
                      <a:r>
                        <a:t>Query-time speedup focus</a:t>
                      </a:r>
                    </a:p>
                  </a:txBody>
                  <a:tcPr marL="73152" marR="73152" marT="36576" marB="36576">
                    <a:solidFill>
                      <a:srgbClr val="F8FAFC"/>
                    </a:solidFill>
                  </a:tcPr>
                </a:tc>
                <a:tc>
                  <a:txBody>
                    <a:bodyPr/>
                    <a:lstStyle/>
                    <a:p>
                      <a:pPr algn="l">
                        <a:defRPr sz="850">
                          <a:solidFill>
                            <a:srgbClr val="0F172A"/>
                          </a:solidFill>
                          <a:latin typeface="Segoe UI"/>
                        </a:defRPr>
                      </a:pPr>
                      <a:r>
                        <a:t>Microsecond shortest-path solvers engineered; no adaptive selector evaluated.</a:t>
                      </a:r>
                    </a:p>
                  </a:txBody>
                  <a:tcPr marL="73152" marR="73152" marT="36576" marB="36576">
                    <a:solidFill>
                      <a:srgbClr val="F8FAFC"/>
                    </a:solidFill>
                  </a:tcPr>
                </a:tc>
                <a:extLst>
                  <a:ext uri="{0D108BD9-81ED-4DB2-BD59-A6C34878D82A}">
                    <a16:rowId xmlns:a16="http://schemas.microsoft.com/office/drawing/2014/main" val="10007"/>
                  </a:ext>
                </a:extLst>
              </a:tr>
              <a:tr h="378229">
                <a:tc>
                  <a:txBody>
                    <a:bodyPr/>
                    <a:lstStyle/>
                    <a:p>
                      <a:pPr algn="l">
                        <a:defRPr sz="850">
                          <a:solidFill>
                            <a:srgbClr val="0F172A"/>
                          </a:solidFill>
                          <a:latin typeface="Segoe UI"/>
                        </a:defRPr>
                      </a:pPr>
                      <a:r>
                        <a:t>Kerschke et al. (2019)</a:t>
                      </a:r>
                    </a:p>
                  </a:txBody>
                  <a:tcPr marL="73152" marR="73152" marT="36576" marB="36576">
                    <a:solidFill>
                      <a:srgbClr val="FFFFFF"/>
                    </a:solidFill>
                  </a:tcPr>
                </a:tc>
                <a:tc>
                  <a:txBody>
                    <a:bodyPr/>
                    <a:lstStyle/>
                    <a:p>
                      <a:pPr algn="l">
                        <a:defRPr sz="850">
                          <a:solidFill>
                            <a:srgbClr val="0F172A"/>
                          </a:solidFill>
                          <a:latin typeface="Segoe UI"/>
                        </a:defRPr>
                      </a:pPr>
                      <a:r>
                        <a:t>Algorithm Selection Survey</a:t>
                      </a:r>
                    </a:p>
                  </a:txBody>
                  <a:tcPr marL="73152" marR="73152" marT="36576" marB="36576">
                    <a:solidFill>
                      <a:srgbClr val="FFFFFF"/>
                    </a:solidFill>
                  </a:tcPr>
                </a:tc>
                <a:tc>
                  <a:txBody>
                    <a:bodyPr/>
                    <a:lstStyle/>
                    <a:p>
                      <a:pPr algn="l">
                        <a:defRPr sz="850">
                          <a:solidFill>
                            <a:srgbClr val="0F172A"/>
                          </a:solidFill>
                          <a:latin typeface="Segoe UI"/>
                        </a:defRPr>
                      </a:pPr>
                      <a:r>
                        <a:t>Cross-domain review</a:t>
                      </a:r>
                    </a:p>
                  </a:txBody>
                  <a:tcPr marL="73152" marR="73152" marT="36576" marB="36576">
                    <a:solidFill>
                      <a:srgbClr val="FFFFFF"/>
                    </a:solidFill>
                  </a:tcPr>
                </a:tc>
                <a:tc>
                  <a:txBody>
                    <a:bodyPr/>
                    <a:lstStyle/>
                    <a:p>
                      <a:pPr algn="l">
                        <a:defRPr sz="850">
                          <a:solidFill>
                            <a:srgbClr val="0F172A"/>
                          </a:solidFill>
                          <a:latin typeface="Segoe UI"/>
                        </a:defRPr>
                      </a:pPr>
                      <a:r>
                        <a:t>Taxonomy of problem features</a:t>
                      </a:r>
                    </a:p>
                  </a:txBody>
                  <a:tcPr marL="73152" marR="73152" marT="36576" marB="36576">
                    <a:solidFill>
                      <a:srgbClr val="FFFFFF"/>
                    </a:solidFill>
                  </a:tcPr>
                </a:tc>
                <a:tc>
                  <a:txBody>
                    <a:bodyPr/>
                    <a:lstStyle/>
                    <a:p>
                      <a:pPr algn="l">
                        <a:defRPr sz="850">
                          <a:solidFill>
                            <a:srgbClr val="0F172A"/>
                          </a:solidFill>
                          <a:latin typeface="Segoe UI"/>
                        </a:defRPr>
                      </a:pPr>
                      <a:r>
                        <a:t>Identified as open practical barrier</a:t>
                      </a:r>
                    </a:p>
                  </a:txBody>
                  <a:tcPr marL="73152" marR="73152" marT="36576" marB="36576">
                    <a:solidFill>
                      <a:srgbClr val="FFFFFF"/>
                    </a:solidFill>
                  </a:tcPr>
                </a:tc>
                <a:tc>
                  <a:txBody>
                    <a:bodyPr/>
                    <a:lstStyle/>
                    <a:p>
                      <a:pPr algn="l">
                        <a:defRPr sz="850">
                          <a:solidFill>
                            <a:srgbClr val="0F172A"/>
                          </a:solidFill>
                          <a:latin typeface="Segoe UI"/>
                        </a:defRPr>
                      </a:pPr>
                      <a:r>
                        <a:t>Definitive survey; flags feature computation costs as an unaddressed challenge.</a:t>
                      </a:r>
                    </a:p>
                  </a:txBody>
                  <a:tcPr marL="73152" marR="73152" marT="36576" marB="36576">
                    <a:solidFill>
                      <a:srgbClr val="FFFFFF"/>
                    </a:solidFill>
                  </a:tcPr>
                </a:tc>
                <a:extLst>
                  <a:ext uri="{0D108BD9-81ED-4DB2-BD59-A6C34878D82A}">
                    <a16:rowId xmlns:a16="http://schemas.microsoft.com/office/drawing/2014/main" val="10008"/>
                  </a:ext>
                </a:extLst>
              </a:tr>
              <a:tr h="378229">
                <a:tc>
                  <a:txBody>
                    <a:bodyPr/>
                    <a:lstStyle/>
                    <a:p>
                      <a:pPr algn="l">
                        <a:defRPr sz="850">
                          <a:solidFill>
                            <a:srgbClr val="0F172A"/>
                          </a:solidFill>
                          <a:latin typeface="Segoe UI"/>
                        </a:defRPr>
                      </a:pPr>
                      <a:r>
                        <a:t>van der Blom (2026)</a:t>
                      </a:r>
                    </a:p>
                  </a:txBody>
                  <a:tcPr marL="73152" marR="73152" marT="36576" marB="36576">
                    <a:solidFill>
                      <a:srgbClr val="F8FAFC"/>
                    </a:solidFill>
                  </a:tcPr>
                </a:tc>
                <a:tc>
                  <a:txBody>
                    <a:bodyPr/>
                    <a:lstStyle/>
                    <a:p>
                      <a:pPr algn="l">
                        <a:defRPr sz="850">
                          <a:solidFill>
                            <a:srgbClr val="0F172A"/>
                          </a:solidFill>
                          <a:latin typeface="Segoe UI"/>
                        </a:defRPr>
                      </a:pPr>
                      <a:r>
                        <a:t>Black-Box Optimization</a:t>
                      </a:r>
                    </a:p>
                  </a:txBody>
                  <a:tcPr marL="73152" marR="73152" marT="36576" marB="36576">
                    <a:solidFill>
                      <a:srgbClr val="F8FAFC"/>
                    </a:solidFill>
                  </a:tcPr>
                </a:tc>
                <a:tc>
                  <a:txBody>
                    <a:bodyPr/>
                    <a:lstStyle/>
                    <a:p>
                      <a:pPr algn="l">
                        <a:defRPr sz="850">
                          <a:solidFill>
                            <a:srgbClr val="0F172A"/>
                          </a:solidFill>
                          <a:latin typeface="Segoe UI"/>
                        </a:defRPr>
                      </a:pPr>
                      <a:r>
                        <a:t>Continuous optimizers (CMA-ES)</a:t>
                      </a:r>
                    </a:p>
                  </a:txBody>
                  <a:tcPr marL="73152" marR="73152" marT="36576" marB="36576">
                    <a:solidFill>
                      <a:srgbClr val="F8FAFC"/>
                    </a:solidFill>
                  </a:tcPr>
                </a:tc>
                <a:tc>
                  <a:txBody>
                    <a:bodyPr/>
                    <a:lstStyle/>
                    <a:p>
                      <a:pPr algn="l">
                        <a:defRPr sz="850">
                          <a:solidFill>
                            <a:srgbClr val="0F172A"/>
                          </a:solidFill>
                          <a:latin typeface="Segoe UI"/>
                        </a:defRPr>
                      </a:pPr>
                      <a:r>
                        <a:t>Exploratory Landscape Analysis</a:t>
                      </a:r>
                    </a:p>
                  </a:txBody>
                  <a:tcPr marL="73152" marR="73152" marT="36576" marB="36576">
                    <a:solidFill>
                      <a:srgbClr val="F8FAFC"/>
                    </a:solidFill>
                  </a:tcPr>
                </a:tc>
                <a:tc>
                  <a:txBody>
                    <a:bodyPr/>
                    <a:lstStyle/>
                    <a:p>
                      <a:pPr algn="l">
                        <a:defRPr sz="850">
                          <a:solidFill>
                            <a:srgbClr val="0F172A"/>
                          </a:solidFill>
                          <a:latin typeface="Segoe UI"/>
                        </a:defRPr>
                      </a:pPr>
                      <a:r>
                        <a:t>Charged against function eval budget</a:t>
                      </a:r>
                    </a:p>
                  </a:txBody>
                  <a:tcPr marL="73152" marR="73152" marT="36576" marB="36576">
                    <a:solidFill>
                      <a:srgbClr val="F8FAFC"/>
                    </a:solidFill>
                  </a:tcPr>
                </a:tc>
                <a:tc>
                  <a:txBody>
                    <a:bodyPr/>
                    <a:lstStyle/>
                    <a:p>
                      <a:pPr algn="l">
                        <a:defRPr sz="850">
                          <a:solidFill>
                            <a:srgbClr val="0F172A"/>
                          </a:solidFill>
                          <a:latin typeface="Segoe UI"/>
                        </a:defRPr>
                      </a:pPr>
                      <a:r>
                        <a:t>Analyzed feature budget trade-offs; lacks wall-clock and repeated-query model.</a:t>
                      </a:r>
                    </a:p>
                  </a:txBody>
                  <a:tcPr marL="73152" marR="73152" marT="36576" marB="36576">
                    <a:solidFill>
                      <a:srgbClr val="F8FAFC"/>
                    </a:solidFill>
                  </a:tcPr>
                </a:tc>
                <a:extLst>
                  <a:ext uri="{0D108BD9-81ED-4DB2-BD59-A6C34878D82A}">
                    <a16:rowId xmlns:a16="http://schemas.microsoft.com/office/drawing/2014/main" val="10009"/>
                  </a:ext>
                </a:extLst>
              </a:tr>
              <a:tr h="378230">
                <a:tc>
                  <a:txBody>
                    <a:bodyPr/>
                    <a:lstStyle/>
                    <a:p>
                      <a:pPr algn="l">
                        <a:defRPr sz="850">
                          <a:solidFill>
                            <a:srgbClr val="0F172A"/>
                          </a:solidFill>
                          <a:latin typeface="Segoe UI"/>
                        </a:defRPr>
                      </a:pPr>
                      <a:r>
                        <a:t>Gholami Shiri (2026)</a:t>
                      </a:r>
                    </a:p>
                  </a:txBody>
                  <a:tcPr marL="73152" marR="73152" marT="36576" marB="36576">
                    <a:solidFill>
                      <a:srgbClr val="FFFFFF"/>
                    </a:solidFill>
                  </a:tcPr>
                </a:tc>
                <a:tc>
                  <a:txBody>
                    <a:bodyPr/>
                    <a:lstStyle/>
                    <a:p>
                      <a:pPr algn="l">
                        <a:defRPr sz="850">
                          <a:solidFill>
                            <a:srgbClr val="0F172A"/>
                          </a:solidFill>
                          <a:latin typeface="Segoe UI"/>
                        </a:defRPr>
                      </a:pPr>
                      <a:r>
                        <a:t>Shortest Paths (Landscape)</a:t>
                      </a:r>
                    </a:p>
                  </a:txBody>
                  <a:tcPr marL="73152" marR="73152" marT="36576" marB="36576">
                    <a:solidFill>
                      <a:srgbClr val="FFFFFF"/>
                    </a:solidFill>
                  </a:tcPr>
                </a:tc>
                <a:tc>
                  <a:txBody>
                    <a:bodyPr/>
                    <a:lstStyle/>
                    <a:p>
                      <a:pPr algn="l">
                        <a:defRPr sz="850">
                          <a:solidFill>
                            <a:srgbClr val="0F172A"/>
                          </a:solidFill>
                          <a:latin typeface="Segoe UI"/>
                        </a:defRPr>
                      </a:pPr>
                      <a:r>
                        <a:t>Dijkstra, Bidi, A*, DEQ</a:t>
                      </a:r>
                    </a:p>
                  </a:txBody>
                  <a:tcPr marL="73152" marR="73152" marT="36576" marB="36576">
                    <a:solidFill>
                      <a:srgbClr val="FFFFFF"/>
                    </a:solidFill>
                  </a:tcPr>
                </a:tc>
                <a:tc>
                  <a:txBody>
                    <a:bodyPr/>
                    <a:lstStyle/>
                    <a:p>
                      <a:pPr algn="l">
                        <a:defRPr sz="850">
                          <a:solidFill>
                            <a:srgbClr val="0F172A"/>
                          </a:solidFill>
                          <a:latin typeface="Segoe UI"/>
                        </a:defRPr>
                      </a:pPr>
                      <a:r>
                        <a:t>Low-cost structural graph metrics</a:t>
                      </a:r>
                    </a:p>
                  </a:txBody>
                  <a:tcPr marL="73152" marR="73152" marT="36576" marB="36576">
                    <a:solidFill>
                      <a:srgbClr val="FFFFFF"/>
                    </a:solidFill>
                  </a:tcPr>
                </a:tc>
                <a:tc>
                  <a:txBody>
                    <a:bodyPr/>
                    <a:lstStyle/>
                    <a:p>
                      <a:pPr algn="l">
                        <a:defRPr sz="850">
                          <a:solidFill>
                            <a:srgbClr val="0F172A"/>
                          </a:solidFill>
                          <a:latin typeface="Segoe UI"/>
                        </a:defRPr>
                      </a:pPr>
                      <a:r>
                        <a:t>No selection / No overhead charged</a:t>
                      </a:r>
                    </a:p>
                  </a:txBody>
                  <a:tcPr marL="73152" marR="73152" marT="36576" marB="36576">
                    <a:solidFill>
                      <a:srgbClr val="FFFFFF"/>
                    </a:solidFill>
                  </a:tcPr>
                </a:tc>
                <a:tc>
                  <a:txBody>
                    <a:bodyPr/>
                    <a:lstStyle/>
                    <a:p>
                      <a:pPr algn="l">
                        <a:defRPr sz="850">
                          <a:solidFill>
                            <a:srgbClr val="0F172A"/>
                          </a:solidFill>
                          <a:latin typeface="Segoe UI"/>
                        </a:defRPr>
                      </a:pPr>
                      <a:r>
                        <a:t>Landscape clustering; motivates OA-ASSP's operational decision pricing.</a:t>
                      </a:r>
                    </a:p>
                  </a:txBody>
                  <a:tcPr marL="73152" marR="73152" marT="36576" marB="36576">
                    <a:solidFill>
                      <a:srgbClr val="FFFFFF"/>
                    </a:solidFill>
                  </a:tcPr>
                </a:tc>
                <a:extLst>
                  <a:ext uri="{0D108BD9-81ED-4DB2-BD59-A6C34878D82A}">
                    <a16:rowId xmlns:a16="http://schemas.microsoft.com/office/drawing/2014/main" val="10010"/>
                  </a:ext>
                </a:extLst>
              </a:tr>
            </a:tbl>
          </a:graphicData>
        </a:graphic>
      </p:graphicFrame>
      <p:sp>
        <p:nvSpPr>
          <p:cNvPr id="6" name="Rounded Rectangle 5"/>
          <p:cNvSpPr/>
          <p:nvPr/>
        </p:nvSpPr>
        <p:spPr>
          <a:xfrm>
            <a:off x="731520" y="5468112"/>
            <a:ext cx="10728655" cy="749808"/>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182880" tIns="73152" rIns="182880" rtlCol="0" anchor="t"/>
          <a:lstStyle/>
          <a:p>
            <a:pPr algn="l">
              <a:spcAft>
                <a:spcPts val="200"/>
              </a:spcAft>
              <a:defRPr sz="900" b="1">
                <a:solidFill>
                  <a:srgbClr val="2563EB"/>
                </a:solidFill>
                <a:latin typeface="Segoe UI"/>
              </a:defRPr>
            </a:pPr>
            <a:r>
              <a:t>LITERATURE SYNTHESIS &amp; RESEARCH PROGRESSION:</a:t>
            </a:r>
          </a:p>
          <a:p>
            <a:pPr algn="l">
              <a:defRPr sz="900">
                <a:solidFill>
                  <a:srgbClr val="0F172A"/>
                </a:solidFill>
                <a:latin typeface="Segoe UI"/>
              </a:defRPr>
            </a:pPr>
            <a:r>
              <a:t>Existing literature established portfolio value in multi-second domains (SATzilla, ASlib), identified feature budgets in continuous optimization (van der Blom), and mapped shortest-path landscapes (Gholami Shiri). However, NO prior work prices physical wall-clock selection cost against SBS–VBS headroom across repeated query workloads (Q) on resident graphs — defining the exact gap addressed by OA-ASSP.</a:t>
            </a:r>
          </a:p>
        </p:txBody>
      </p:sp>
      <p:sp>
        <p:nvSpPr>
          <p:cNvPr id="7" name="Rectangle 6"/>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9" name="TextBox 8"/>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14 of 17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METHODOLOGICAL ARCHITECTURE</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OA-ASSP System Architecture &amp; Evaluation Framework</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10728655" cy="256032"/>
          </a:xfrm>
          <a:prstGeom prst="rect">
            <a:avLst/>
          </a:prstGeom>
          <a:noFill/>
        </p:spPr>
        <p:txBody>
          <a:bodyPr wrap="none" lIns="0" tIns="0" rIns="0" bIns="0">
            <a:spAutoFit/>
          </a:bodyPr>
          <a:lstStyle/>
          <a:p>
            <a:pPr algn="l">
              <a:defRPr sz="1050" b="1">
                <a:solidFill>
                  <a:srgbClr val="2563EB"/>
                </a:solidFill>
                <a:latin typeface="Segoe UI"/>
              </a:defRPr>
            </a:pPr>
            <a:r>
              <a:t>ONLINE ADAPTIVE SELECTION PIPELINE (COST COMPOSITION)</a:t>
            </a:r>
          </a:p>
        </p:txBody>
      </p:sp>
      <p:sp>
        <p:nvSpPr>
          <p:cNvPr id="6" name="Rounded Rectangle 5"/>
          <p:cNvSpPr/>
          <p:nvPr/>
        </p:nvSpPr>
        <p:spPr>
          <a:xfrm>
            <a:off x="731520" y="1481328"/>
            <a:ext cx="2423160" cy="19659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t"/>
          <a:lstStyle/>
          <a:p>
            <a:pPr algn="l">
              <a:spcAft>
                <a:spcPts val="400"/>
              </a:spcAft>
              <a:defRPr sz="1100" b="1">
                <a:solidFill>
                  <a:srgbClr val="1A365D"/>
                </a:solidFill>
                <a:latin typeface="Segoe UI"/>
              </a:defRPr>
            </a:pPr>
            <a:r>
              <a:t>1. Workload Inputs</a:t>
            </a:r>
          </a:p>
          <a:p>
            <a:pPr algn="l">
              <a:defRPr sz="950">
                <a:solidFill>
                  <a:srgbClr val="334155"/>
                </a:solidFill>
                <a:latin typeface="Segoe UI"/>
              </a:defRPr>
            </a:pPr>
            <a:r>
              <a:t>• Resident Graph G=(V,E,w)</a:t>
            </a:r>
            <a:br/>
            <a:r>
              <a:t>• Query Workload Q: {(s, t)}</a:t>
            </a:r>
            <a:br/>
            <a:r>
              <a:t>• Q ∈ {1, 10, 50, 100, 500}</a:t>
            </a:r>
            <a:br/>
            <a:r>
              <a:t>• Deterministic query sequence</a:t>
            </a:r>
          </a:p>
        </p:txBody>
      </p:sp>
      <p:sp>
        <p:nvSpPr>
          <p:cNvPr id="7" name="Rounded Rectangle 6"/>
          <p:cNvSpPr/>
          <p:nvPr/>
        </p:nvSpPr>
        <p:spPr>
          <a:xfrm>
            <a:off x="3474720" y="1481328"/>
            <a:ext cx="2514600" cy="19659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t"/>
          <a:lstStyle/>
          <a:p>
            <a:pPr algn="l">
              <a:spcAft>
                <a:spcPts val="400"/>
              </a:spcAft>
              <a:defRPr sz="1100" b="1">
                <a:solidFill>
                  <a:srgbClr val="1A365D"/>
                </a:solidFill>
                <a:latin typeface="Segoe UI"/>
              </a:defRPr>
            </a:pPr>
            <a:r>
              <a:t>2. Feature Extraction</a:t>
            </a:r>
          </a:p>
          <a:p>
            <a:pPr algn="l">
              <a:defRPr sz="950">
                <a:solidFill>
                  <a:srgbClr val="334155"/>
                </a:solidFill>
                <a:latin typeface="Segoe UI"/>
              </a:defRPr>
            </a:pPr>
            <a:r>
              <a:t>• Graph Features: C_graph (once)</a:t>
            </a:r>
            <a:br/>
            <a:r>
              <a:t>• Query Features: C_query (per query)</a:t>
            </a:r>
            <a:br/>
            <a:r>
              <a:t>• Feature Assembly: C_vec</a:t>
            </a:r>
            <a:br/>
            <a:r>
              <a:t>• Tiers: Tier 0 (6), Tier 1 (21, primary), Tier 2 (23)</a:t>
            </a:r>
          </a:p>
        </p:txBody>
      </p:sp>
      <p:sp>
        <p:nvSpPr>
          <p:cNvPr id="8" name="Rounded Rectangle 7"/>
          <p:cNvSpPr/>
          <p:nvPr/>
        </p:nvSpPr>
        <p:spPr>
          <a:xfrm>
            <a:off x="6309360" y="1481328"/>
            <a:ext cx="2514600" cy="19659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t"/>
          <a:lstStyle/>
          <a:p>
            <a:pPr algn="l">
              <a:spcAft>
                <a:spcPts val="400"/>
              </a:spcAft>
              <a:defRPr sz="1100" b="1">
                <a:solidFill>
                  <a:srgbClr val="1A365D"/>
                </a:solidFill>
                <a:latin typeface="Segoe UI"/>
              </a:defRPr>
            </a:pPr>
            <a:r>
              <a:t>3. Selector Inference</a:t>
            </a:r>
          </a:p>
          <a:p>
            <a:pPr algn="l">
              <a:defRPr sz="950">
                <a:solidFill>
                  <a:srgbClr val="334155"/>
                </a:solidFill>
                <a:latin typeface="Segoe UI"/>
              </a:defRPr>
            </a:pPr>
            <a:r>
              <a:t>• Decision Tree (depth 6, leaf 3)</a:t>
            </a:r>
            <a:br/>
            <a:r>
              <a:t>• Library Mode: 87.9 µs/query (scikit-learn single-row)</a:t>
            </a:r>
            <a:br/>
            <a:r>
              <a:t>• Compiled Mode: 0.8 µs/query (native branches, ~110× faster)</a:t>
            </a:r>
          </a:p>
        </p:txBody>
      </p:sp>
      <p:sp>
        <p:nvSpPr>
          <p:cNvPr id="9" name="Rounded Rectangle 8"/>
          <p:cNvSpPr/>
          <p:nvPr/>
        </p:nvSpPr>
        <p:spPr>
          <a:xfrm>
            <a:off x="9144000" y="1481328"/>
            <a:ext cx="2316175" cy="19659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t"/>
          <a:lstStyle/>
          <a:p>
            <a:pPr algn="l">
              <a:spcAft>
                <a:spcPts val="400"/>
              </a:spcAft>
              <a:defRPr sz="1100" b="1">
                <a:solidFill>
                  <a:srgbClr val="1A365D"/>
                </a:solidFill>
                <a:latin typeface="Segoe UI"/>
              </a:defRPr>
            </a:pPr>
            <a:r>
              <a:t>4. Solver Execution</a:t>
            </a:r>
          </a:p>
          <a:p>
            <a:pPr algn="l">
              <a:defRPr sz="950">
                <a:solidFill>
                  <a:srgbClr val="334155"/>
                </a:solidFill>
                <a:latin typeface="Segoe UI"/>
              </a:defRPr>
            </a:pPr>
            <a:r>
              <a:t>• Dispatched Solver:</a:t>
            </a:r>
            <a:br/>
            <a:r>
              <a:t>  - Dijkstra (Isotropic)</a:t>
            </a:r>
            <a:br/>
            <a:r>
              <a:t>  - Bidirectional Dijkstra</a:t>
            </a:r>
            <a:br/>
            <a:r>
              <a:t>  - A* (Geometric only)</a:t>
            </a:r>
            <a:br/>
            <a:r>
              <a:t>• Evaluates exact shortest path</a:t>
            </a:r>
          </a:p>
        </p:txBody>
      </p:sp>
      <p:sp>
        <p:nvSpPr>
          <p:cNvPr id="10" name="Right Arrow 9"/>
          <p:cNvSpPr/>
          <p:nvPr/>
        </p:nvSpPr>
        <p:spPr>
          <a:xfrm>
            <a:off x="3200400" y="2286000"/>
            <a:ext cx="228600" cy="27432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6035040" y="2286000"/>
            <a:ext cx="228600" cy="27432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8869680" y="2286000"/>
            <a:ext cx="228600" cy="27432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566160"/>
            <a:ext cx="10728655" cy="256032"/>
          </a:xfrm>
          <a:prstGeom prst="rect">
            <a:avLst/>
          </a:prstGeom>
          <a:noFill/>
        </p:spPr>
        <p:txBody>
          <a:bodyPr wrap="none" lIns="0" tIns="0" rIns="0" bIns="0">
            <a:spAutoFit/>
          </a:bodyPr>
          <a:lstStyle/>
          <a:p>
            <a:pPr algn="l">
              <a:defRPr sz="1050" b="1">
                <a:solidFill>
                  <a:srgbClr val="2563EB"/>
                </a:solidFill>
                <a:latin typeface="Segoe UI"/>
              </a:defRPr>
            </a:pPr>
            <a:r>
              <a:t>OVERHEAD-AWARE ECONOMIC EVALUATION FRAMEWORK</a:t>
            </a:r>
          </a:p>
        </p:txBody>
      </p:sp>
      <p:sp>
        <p:nvSpPr>
          <p:cNvPr id="14" name="Rounded Rectangle 13"/>
          <p:cNvSpPr/>
          <p:nvPr/>
        </p:nvSpPr>
        <p:spPr>
          <a:xfrm>
            <a:off x="731520" y="3858768"/>
            <a:ext cx="2468880"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t"/>
          <a:lstStyle/>
          <a:p>
            <a:pPr algn="l">
              <a:spcAft>
                <a:spcPts val="400"/>
              </a:spcAft>
              <a:defRPr sz="1100" b="1">
                <a:solidFill>
                  <a:srgbClr val="1A365D"/>
                </a:solidFill>
                <a:latin typeface="Segoe UI"/>
              </a:defRPr>
            </a:pPr>
            <a:r>
              <a:t>A. Reference Baselines</a:t>
            </a:r>
          </a:p>
          <a:p>
            <a:pPr algn="l">
              <a:defRPr sz="950">
                <a:solidFill>
                  <a:srgbClr val="334155"/>
                </a:solidFill>
                <a:latin typeface="Segoe UI"/>
              </a:defRPr>
            </a:pPr>
            <a:r>
              <a:t>• SBS (Training-Only):</a:t>
            </a:r>
            <a:br/>
            <a:r>
              <a:t>  Always-Bidirectional-Dijkstra</a:t>
            </a:r>
            <a:br/>
            <a:r>
              <a:t>  SBS Cost = 1064.20 ms</a:t>
            </a:r>
            <a:br/>
            <a:r>
              <a:t>• VBS (Oracle Lower Bound):</a:t>
            </a:r>
            <a:br/>
            <a:r>
              <a:t>  VBS Cost = 941.68 ms</a:t>
            </a:r>
            <a:br/>
            <a:r>
              <a:t>• Oracle Gap (Headroom):</a:t>
            </a:r>
            <a:br/>
            <a:r>
              <a:t>  122.52 ms (11.51% of SBS)</a:t>
            </a:r>
          </a:p>
        </p:txBody>
      </p:sp>
      <p:sp>
        <p:nvSpPr>
          <p:cNvPr id="15" name="Rounded Rectangle 14"/>
          <p:cNvSpPr/>
          <p:nvPr/>
        </p:nvSpPr>
        <p:spPr>
          <a:xfrm>
            <a:off x="3456432" y="3858768"/>
            <a:ext cx="2468880"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t"/>
          <a:lstStyle/>
          <a:p>
            <a:pPr algn="l">
              <a:spcAft>
                <a:spcPts val="400"/>
              </a:spcAft>
              <a:defRPr sz="1100" b="1">
                <a:solidFill>
                  <a:srgbClr val="1A365D"/>
                </a:solidFill>
                <a:latin typeface="Segoe UI"/>
              </a:defRPr>
            </a:pPr>
            <a:r>
              <a:t>B. Selection Overhead</a:t>
            </a:r>
          </a:p>
          <a:p>
            <a:pPr algn="l">
              <a:defRPr sz="950">
                <a:solidFill>
                  <a:srgbClr val="334155"/>
                </a:solidFill>
                <a:latin typeface="Segoe UI"/>
              </a:defRPr>
            </a:pPr>
            <a:r>
              <a:t>• Library Overhead:</a:t>
            </a:r>
            <a:br/>
            <a:r>
              <a:t>  472.04 ms (at Q=500)</a:t>
            </a:r>
            <a:br/>
            <a:r>
              <a:t>  (8.5 ms graph + 463.6 ms query)</a:t>
            </a:r>
            <a:br/>
            <a:r>
              <a:t>• Compiled Overhead:</a:t>
            </a:r>
            <a:br/>
            <a:r>
              <a:t>  35.51 ms (at Q=500)</a:t>
            </a:r>
            <a:br/>
            <a:r>
              <a:t>  (8.5 ms graph + 27.0 ms query)</a:t>
            </a:r>
            <a:br/>
            <a:r>
              <a:t>• 13.3× total overhead drop</a:t>
            </a:r>
          </a:p>
        </p:txBody>
      </p:sp>
      <p:sp>
        <p:nvSpPr>
          <p:cNvPr id="16" name="Rounded Rectangle 15"/>
          <p:cNvSpPr/>
          <p:nvPr/>
        </p:nvSpPr>
        <p:spPr>
          <a:xfrm>
            <a:off x="6181344" y="3858768"/>
            <a:ext cx="2468880"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t"/>
          <a:lstStyle/>
          <a:p>
            <a:pPr algn="l">
              <a:spcAft>
                <a:spcPts val="400"/>
              </a:spcAft>
              <a:defRPr sz="1100" b="1">
                <a:solidFill>
                  <a:srgbClr val="1A365D"/>
                </a:solidFill>
                <a:latin typeface="Segoe UI"/>
              </a:defRPr>
            </a:pPr>
            <a:r>
              <a:t>C. Decision Metrics</a:t>
            </a:r>
          </a:p>
          <a:p>
            <a:pPr algn="l">
              <a:defRPr sz="950">
                <a:solidFill>
                  <a:srgbClr val="334155"/>
                </a:solidFill>
                <a:latin typeface="Segoe UI"/>
              </a:defRPr>
            </a:pPr>
            <a:r>
              <a:t>• RequiredCapture(Q):</a:t>
            </a:r>
            <a:br/>
            <a:r>
              <a:t>  Overhead(Q) / OracleGap(Q)</a:t>
            </a:r>
            <a:br/>
            <a:r>
              <a:t>• SolverOnlyCapture(Q):</a:t>
            </a:r>
            <a:br/>
            <a:r>
              <a:t>  (SBS - Chosen) / OracleGap</a:t>
            </a:r>
            <a:br/>
            <a:r>
              <a:t>• Operative Condition:</a:t>
            </a:r>
            <a:br/>
            <a:r>
              <a:t>  SolverOnlyCapture &gt; ReqCapture</a:t>
            </a:r>
            <a:br/>
            <a:r>
              <a:t>  (Separates overhead from quality)</a:t>
            </a:r>
          </a:p>
        </p:txBody>
      </p:sp>
      <p:sp>
        <p:nvSpPr>
          <p:cNvPr id="17" name="Rounded Rectangle 16"/>
          <p:cNvSpPr/>
          <p:nvPr/>
        </p:nvSpPr>
        <p:spPr>
          <a:xfrm>
            <a:off x="8906256" y="3858768"/>
            <a:ext cx="2468880" cy="2331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t"/>
          <a:lstStyle/>
          <a:p>
            <a:pPr algn="l">
              <a:spcAft>
                <a:spcPts val="400"/>
              </a:spcAft>
              <a:defRPr sz="1100" b="1">
                <a:solidFill>
                  <a:srgbClr val="1A365D"/>
                </a:solidFill>
                <a:latin typeface="Segoe UI"/>
              </a:defRPr>
            </a:pPr>
            <a:r>
              <a:t>D. Empirical Verdict</a:t>
            </a:r>
          </a:p>
          <a:p>
            <a:pPr algn="l">
              <a:defRPr sz="950">
                <a:solidFill>
                  <a:srgbClr val="0F172A"/>
                </a:solidFill>
                <a:latin typeface="Segoe UI"/>
              </a:defRPr>
            </a:pPr>
            <a:r>
              <a:t>• Library: ReqCap = 3.8527 &gt; 1.0</a:t>
            </a:r>
            <a:br/>
            <a:r>
              <a:t>  Strictly OVERHEAD-BOUND</a:t>
            </a:r>
            <a:br/>
            <a:r>
              <a:t>• Compiled: ReqCap = 0.2898 &lt; 1.0</a:t>
            </a:r>
            <a:br/>
            <a:r>
              <a:t>  Affordable, but SolverOnlyCap</a:t>
            </a:r>
            <a:br/>
            <a:r>
              <a:t>  = -0.1633 (EFFICACY-BOUND)</a:t>
            </a:r>
            <a:br/>
            <a:r>
              <a:t>• Genuine Crossovers: 0 / 40</a:t>
            </a:r>
            <a:br/>
            <a:r>
              <a:t>  (Noise floor: 16.3% lib / 9.4% cmp)</a:t>
            </a:r>
          </a:p>
        </p:txBody>
      </p:sp>
      <p:sp>
        <p:nvSpPr>
          <p:cNvPr id="18" name="Rectangle 1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20" name="TextBox 1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15 of 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RESEARCH SYNTHESIS</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Research Gap &amp; Future Research Directions</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3444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l">
              <a:spcAft>
                <a:spcPts val="1200"/>
              </a:spcAft>
              <a:defRPr sz="1300" b="1">
                <a:solidFill>
                  <a:srgbClr val="1A365D"/>
                </a:solidFill>
                <a:latin typeface="Segoe UI"/>
              </a:defRPr>
            </a:pPr>
            <a:r>
              <a:t>RESEARCH GAP IDENTIFIED BY SURVEY</a:t>
            </a:r>
          </a:p>
          <a:p>
            <a:pPr algn="l">
              <a:spcAft>
                <a:spcPts val="800"/>
              </a:spcAft>
              <a:defRPr sz="1050">
                <a:solidFill>
                  <a:srgbClr val="2563EB"/>
                </a:solidFill>
                <a:latin typeface="Segoe UI"/>
              </a:defRPr>
            </a:pPr>
            <a:r>
              <a:t>• </a:t>
            </a:r>
            <a:r>
              <a:rPr b="1">
                <a:solidFill>
                  <a:srgbClr val="0F172A"/>
                </a:solidFill>
              </a:rPr>
              <a:t>1. Microsecond Scale Disconnect: </a:t>
            </a:r>
            <a:r>
              <a:rPr b="0">
                <a:solidFill>
                  <a:srgbClr val="334155"/>
                </a:solidFill>
              </a:rPr>
              <a:t> Prior selection literature (SATzilla, ASlib) assumes feature extraction is negligible compared to multi-second runs. In exact shortest paths (V ≤ 320), solver runtimes finish in hundreds of microseconds, where selection latency rivals execution time.</a:t>
            </a:r>
          </a:p>
          <a:p>
            <a:pPr algn="l">
              <a:spcAft>
                <a:spcPts val="800"/>
              </a:spcAft>
              <a:defRPr sz="1050">
                <a:solidFill>
                  <a:srgbClr val="2563EB"/>
                </a:solidFill>
                <a:latin typeface="Segoe UI"/>
              </a:defRPr>
            </a:pPr>
            <a:r>
              <a:t>• </a:t>
            </a:r>
            <a:r>
              <a:rPr b="1">
                <a:solidFill>
                  <a:srgbClr val="0F172A"/>
                </a:solidFill>
              </a:rPr>
              <a:t>2. Physical Wall-Clock Accounting Gap: </a:t>
            </a:r>
            <a:r>
              <a:rPr b="0">
                <a:solidFill>
                  <a:srgbClr val="334155"/>
                </a:solidFill>
              </a:rPr>
              <a:t> Feature-cost studies in optimization (e.g. van der Blom &amp; Vermetten) charge abstract sample budgets. No prior research measured end-to-end physical wall-clock extraction, vector assembly, and inference in an active graph query loop.</a:t>
            </a:r>
          </a:p>
          <a:p>
            <a:pPr algn="l">
              <a:spcAft>
                <a:spcPts val="800"/>
              </a:spcAft>
              <a:defRPr sz="1050">
                <a:solidFill>
                  <a:srgbClr val="2563EB"/>
                </a:solidFill>
                <a:latin typeface="Segoe UI"/>
              </a:defRPr>
            </a:pPr>
            <a:r>
              <a:t>• </a:t>
            </a:r>
            <a:r>
              <a:rPr b="1">
                <a:solidFill>
                  <a:srgbClr val="0F172A"/>
                </a:solidFill>
              </a:rPr>
              <a:t>3. Workload Amortization Dimension (Q): </a:t>
            </a:r>
            <a:r>
              <a:rPr b="0">
                <a:solidFill>
                  <a:srgbClr val="334155"/>
                </a:solidFill>
              </a:rPr>
              <a:t> Prior work evaluates instances in isolation. Real shortest-path applications query persistent graphs, requiring an explicit workload axis (Q ∈ {1...500}) to quantify the amortization of one-time graph metrics against recurring query costs.</a:t>
            </a:r>
          </a:p>
          <a:p>
            <a:pPr algn="l">
              <a:spcAft>
                <a:spcPts val="800"/>
              </a:spcAft>
              <a:defRPr sz="1050">
                <a:solidFill>
                  <a:srgbClr val="2563EB"/>
                </a:solidFill>
                <a:latin typeface="Segoe UI"/>
              </a:defRPr>
            </a:pPr>
            <a:r>
              <a:t>• </a:t>
            </a:r>
            <a:r>
              <a:rPr b="1">
                <a:solidFill>
                  <a:srgbClr val="0F172A"/>
                </a:solidFill>
              </a:rPr>
              <a:t>4. Headroom-Debited Economic Viability: </a:t>
            </a:r>
            <a:r>
              <a:rPr b="0">
                <a:solidFill>
                  <a:srgbClr val="334155"/>
                </a:solidFill>
              </a:rPr>
              <a:t> Existing shortest-path landscape studies (e.g. Gholami Shiri et al.) stop at clustering. The vital question of whether an adaptive selector can capture enough SBS–VBS headroom to earn back its overhead remained unmeasured.</a:t>
            </a:r>
          </a:p>
        </p:txBody>
      </p:sp>
      <p:sp>
        <p:nvSpPr>
          <p:cNvPr id="6" name="Rounded Rectangle 5"/>
          <p:cNvSpPr/>
          <p:nvPr/>
        </p:nvSpPr>
        <p:spPr>
          <a:xfrm>
            <a:off x="6248095" y="1234440"/>
            <a:ext cx="5212080" cy="493776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l">
              <a:spcAft>
                <a:spcPts val="1200"/>
              </a:spcAft>
              <a:defRPr sz="1300" b="1">
                <a:solidFill>
                  <a:srgbClr val="1A365D"/>
                </a:solidFill>
                <a:latin typeface="Segoe UI"/>
              </a:defRPr>
            </a:pPr>
            <a:r>
              <a:t>DEFENSIBLE FUTURE WORK (FROM PAPER)</a:t>
            </a:r>
          </a:p>
          <a:p>
            <a:pPr algn="l">
              <a:spcAft>
                <a:spcPts val="700"/>
              </a:spcAft>
              <a:defRPr sz="1050">
                <a:solidFill>
                  <a:srgbClr val="B45309"/>
                </a:solidFill>
                <a:latin typeface="Segoe UI"/>
              </a:defRPr>
            </a:pPr>
            <a:r>
              <a:t>▶ </a:t>
            </a:r>
            <a:r>
              <a:rPr b="1">
                <a:solidFill>
                  <a:srgbClr val="0F172A"/>
                </a:solidFill>
              </a:rPr>
              <a:t>1. Runtime-Regret-Aware Objectives: </a:t>
            </a:r>
            <a:r>
              <a:rPr b="0">
                <a:solidFill>
                  <a:srgbClr val="334155"/>
                </a:solidFill>
              </a:rPr>
              <a:t> Replace unweighted 0/1 classification loss with loss functions directly weighted by runtime regret (t(A) - t(VBS)), severely penalizing catastrophic mispredictions over trivial differences.</a:t>
            </a:r>
          </a:p>
          <a:p>
            <a:pPr algn="l">
              <a:spcAft>
                <a:spcPts val="700"/>
              </a:spcAft>
              <a:defRPr sz="1050">
                <a:solidFill>
                  <a:srgbClr val="B45309"/>
                </a:solidFill>
                <a:latin typeface="Segoe UI"/>
              </a:defRPr>
            </a:pPr>
            <a:r>
              <a:t>▶ </a:t>
            </a:r>
            <a:r>
              <a:rPr b="1">
                <a:solidFill>
                  <a:srgbClr val="0F172A"/>
                </a:solidFill>
              </a:rPr>
              <a:t>2. Cost-Sensitive / Utility-Aware Selection: </a:t>
            </a:r>
            <a:r>
              <a:rPr b="0">
                <a:solidFill>
                  <a:srgbClr val="334155"/>
                </a:solidFill>
              </a:rPr>
              <a:t> Formulate decision thresholds requiring predicted solver runtime savings to strictly exceed marginal per-query decision overhead before switching away from the fixed baseline.</a:t>
            </a:r>
          </a:p>
          <a:p>
            <a:pPr algn="l">
              <a:spcAft>
                <a:spcPts val="700"/>
              </a:spcAft>
              <a:defRPr sz="1050">
                <a:solidFill>
                  <a:srgbClr val="B45309"/>
                </a:solidFill>
                <a:latin typeface="Segoe UI"/>
              </a:defRPr>
            </a:pPr>
            <a:r>
              <a:t>▶ </a:t>
            </a:r>
            <a:r>
              <a:rPr b="1">
                <a:solidFill>
                  <a:srgbClr val="0F172A"/>
                </a:solidFill>
              </a:rPr>
              <a:t>3. Direct Runtime Prediction Models: </a:t>
            </a:r>
            <a:r>
              <a:rPr b="0">
                <a:solidFill>
                  <a:srgbClr val="334155"/>
                </a:solidFill>
              </a:rPr>
              <a:t> Train regression architectures (random forests or gradient boosting, Hutter et al. style) to predict continuous execution latencies for each solver independently.</a:t>
            </a:r>
          </a:p>
          <a:p>
            <a:pPr algn="l">
              <a:spcAft>
                <a:spcPts val="700"/>
              </a:spcAft>
              <a:defRPr sz="1050">
                <a:solidFill>
                  <a:srgbClr val="B45309"/>
                </a:solidFill>
                <a:latin typeface="Segoe UI"/>
              </a:defRPr>
            </a:pPr>
            <a:r>
              <a:t>▶ </a:t>
            </a:r>
            <a:r>
              <a:rPr b="1">
                <a:solidFill>
                  <a:srgbClr val="0F172A"/>
                </a:solidFill>
              </a:rPr>
              <a:t>4. Scale &amp; Topology Expansion: </a:t>
            </a:r>
            <a:r>
              <a:rPr b="0">
                <a:solidFill>
                  <a:srgbClr val="334155"/>
                </a:solidFill>
              </a:rPr>
              <a:t> Benchmark large-scale networks (V &gt;&gt; 320) and real-world road/transit graphs where solver runtimes expand, potentially widening available oracle headroom.</a:t>
            </a:r>
          </a:p>
          <a:p>
            <a:pPr algn="l">
              <a:spcAft>
                <a:spcPts val="700"/>
              </a:spcAft>
              <a:defRPr sz="1050">
                <a:solidFill>
                  <a:srgbClr val="B45309"/>
                </a:solidFill>
                <a:latin typeface="Segoe UI"/>
              </a:defRPr>
            </a:pPr>
            <a:r>
              <a:t>▶ </a:t>
            </a:r>
            <a:r>
              <a:rPr b="1">
                <a:solidFill>
                  <a:srgbClr val="0F172A"/>
                </a:solidFill>
              </a:rPr>
              <a:t>5. Preprocessing-Based Solvers: </a:t>
            </a:r>
            <a:r>
              <a:rPr b="0">
                <a:solidFill>
                  <a:srgbClr val="334155"/>
                </a:solidFill>
              </a:rPr>
              <a:t> Incorporate advanced algorithm-engineering solvers (Contraction Hierarchies, Hub Labeling, ALT) into the portfolio to evaluate selection across hierarchical routing engines.</a:t>
            </a:r>
          </a:p>
          <a:p>
            <a:pPr algn="l">
              <a:defRPr sz="850" i="1">
                <a:solidFill>
                  <a:srgbClr val="64748B"/>
                </a:solidFill>
                <a:latin typeface="Segoe UI"/>
              </a:defRPr>
            </a:pPr>
            <a:r>
              <a:t>Note: The above directions represent defensible research hypotheses motivated by OA-ASSP's empirical findings, not pre-existing validated interventions.</a:t>
            </a:r>
          </a:p>
        </p:txBody>
      </p:sp>
      <p:sp>
        <p:nvSpPr>
          <p:cNvPr id="7" name="Rectangle 6"/>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9" name="TextBox 8"/>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16 of 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47472"/>
            <a:ext cx="10728655" cy="256032"/>
          </a:xfrm>
          <a:prstGeom prst="rect">
            <a:avLst/>
          </a:prstGeom>
          <a:noFill/>
        </p:spPr>
        <p:txBody>
          <a:bodyPr wrap="square" lIns="0" tIns="0" rIns="0" bIns="0">
            <a:spAutoFit/>
          </a:bodyPr>
          <a:lstStyle/>
          <a:p>
            <a:pPr algn="l">
              <a:defRPr sz="1000" b="1">
                <a:solidFill>
                  <a:srgbClr val="2563EB"/>
                </a:solidFill>
                <a:latin typeface="Segoe UI"/>
              </a:defRPr>
            </a:pPr>
            <a:r>
              <a:t>ACADEMIC CONCLUSION</a:t>
            </a:r>
          </a:p>
        </p:txBody>
      </p:sp>
      <p:sp>
        <p:nvSpPr>
          <p:cNvPr id="3" name="TextBox 2"/>
          <p:cNvSpPr txBox="1"/>
          <p:nvPr/>
        </p:nvSpPr>
        <p:spPr>
          <a:xfrm>
            <a:off x="731520" y="603504"/>
            <a:ext cx="10728655" cy="502920"/>
          </a:xfrm>
          <a:prstGeom prst="rect">
            <a:avLst/>
          </a:prstGeom>
          <a:noFill/>
        </p:spPr>
        <p:txBody>
          <a:bodyPr wrap="square" lIns="0" tIns="0" rIns="0" bIns="0">
            <a:spAutoFit/>
          </a:bodyPr>
          <a:lstStyle/>
          <a:p>
            <a:pPr algn="l">
              <a:defRPr sz="2100" b="1">
                <a:solidFill>
                  <a:srgbClr val="1A365D"/>
                </a:solidFill>
                <a:latin typeface="Segoe UI"/>
              </a:defRPr>
            </a:pPr>
            <a:r>
              <a:t>Conclusion: Findings, Implications &amp; Guiding Principle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34440"/>
            <a:ext cx="521208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1000"/>
              </a:spcAft>
              <a:defRPr sz="1200" b="1">
                <a:solidFill>
                  <a:srgbClr val="1A365D"/>
                </a:solidFill>
                <a:latin typeface="Segoe UI"/>
              </a:defRPr>
            </a:pPr>
            <a:r>
              <a:t>CORE EMPIRICAL FINDINGS</a:t>
            </a:r>
          </a:p>
          <a:p>
            <a:pPr algn="l">
              <a:spcAft>
                <a:spcPts val="700"/>
              </a:spcAft>
              <a:defRPr sz="1050">
                <a:solidFill>
                  <a:srgbClr val="2563EB"/>
                </a:solidFill>
                <a:latin typeface="Segoe UI"/>
              </a:defRPr>
            </a:pPr>
            <a:r>
              <a:t>• </a:t>
            </a:r>
            <a:r>
              <a:rPr b="1">
                <a:solidFill>
                  <a:srgbClr val="0F172A"/>
                </a:solidFill>
              </a:rPr>
              <a:t>Exploitable Complementarity Exists: </a:t>
            </a:r>
            <a:r>
              <a:rPr b="0">
                <a:solidFill>
                  <a:srgbClr val="334155"/>
                </a:solidFill>
              </a:rPr>
              <a:t> On geometric graphs, A* wins 6%–20% of queries, Dijkstra 23%–50%, and Bidirectional Dijkstra 38%–67%, confirming genuine algorithmic diversity exists to be exploited.</a:t>
            </a:r>
          </a:p>
          <a:p>
            <a:pPr algn="l">
              <a:spcAft>
                <a:spcPts val="700"/>
              </a:spcAft>
              <a:defRPr sz="1050">
                <a:solidFill>
                  <a:srgbClr val="2563EB"/>
                </a:solidFill>
                <a:latin typeface="Segoe UI"/>
              </a:defRPr>
            </a:pPr>
            <a:r>
              <a:t>• </a:t>
            </a:r>
            <a:r>
              <a:rPr b="1">
                <a:solidFill>
                  <a:srgbClr val="0F172A"/>
                </a:solidFill>
              </a:rPr>
              <a:t>Library Mode is Overhead-Bound: </a:t>
            </a:r>
            <a:r>
              <a:rPr b="0">
                <a:solidFill>
                  <a:srgbClr val="334155"/>
                </a:solidFill>
              </a:rPr>
              <a:t> Standard scikit-learn single-row inference incurs 87.9 µs per query (RequiredCapture = 3.8527 &gt; 1.0), consuming nearly 4× the entire oracle gap and rendering break-even impossible.</a:t>
            </a:r>
          </a:p>
          <a:p>
            <a:pPr algn="l">
              <a:spcAft>
                <a:spcPts val="700"/>
              </a:spcAft>
              <a:defRPr sz="1050">
                <a:solidFill>
                  <a:srgbClr val="2563EB"/>
                </a:solidFill>
                <a:latin typeface="Segoe UI"/>
              </a:defRPr>
            </a:pPr>
            <a:r>
              <a:t>• </a:t>
            </a:r>
            <a:r>
              <a:rPr b="1">
                <a:solidFill>
                  <a:srgbClr val="0F172A"/>
                </a:solidFill>
              </a:rPr>
              <a:t>Native Compilation Eliminates Overhead: </a:t>
            </a:r>
            <a:r>
              <a:rPr b="0">
                <a:solidFill>
                  <a:srgbClr val="334155"/>
                </a:solidFill>
              </a:rPr>
              <a:t> Compiling the decision tree to native conditional branches achieves an ~110× latency reduction (0.8 µs per query), bringing RequiredCapture down to 0.2898 (well within the viable zone).</a:t>
            </a:r>
          </a:p>
        </p:txBody>
      </p:sp>
      <p:sp>
        <p:nvSpPr>
          <p:cNvPr id="6" name="Rounded Rectangle 5"/>
          <p:cNvSpPr/>
          <p:nvPr/>
        </p:nvSpPr>
        <p:spPr>
          <a:xfrm>
            <a:off x="6248095" y="1234440"/>
            <a:ext cx="521208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spcAft>
                <a:spcPts val="1000"/>
              </a:spcAft>
              <a:defRPr sz="1200" b="1">
                <a:solidFill>
                  <a:srgbClr val="1A365D"/>
                </a:solidFill>
                <a:latin typeface="Segoe UI"/>
              </a:defRPr>
            </a:pPr>
            <a:r>
              <a:t>DECISION QUALITY &amp; METHODOLOGICAL LESSONS</a:t>
            </a:r>
          </a:p>
          <a:p>
            <a:pPr algn="l">
              <a:spcAft>
                <a:spcPts val="700"/>
              </a:spcAft>
              <a:defRPr sz="1050">
                <a:solidFill>
                  <a:srgbClr val="2563EB"/>
                </a:solidFill>
                <a:latin typeface="Segoe UI"/>
              </a:defRPr>
            </a:pPr>
            <a:r>
              <a:t>• </a:t>
            </a:r>
            <a:r>
              <a:rPr b="1">
                <a:solidFill>
                  <a:srgbClr val="0F172A"/>
                </a:solidFill>
              </a:rPr>
              <a:t>Objective Function Bottleneck: </a:t>
            </a:r>
            <a:r>
              <a:rPr b="0">
                <a:solidFill>
                  <a:srgbClr val="334155"/>
                </a:solidFill>
              </a:rPr>
              <a:t> Even when overhead is removed, unweighted 0/1 classification loss fails to convert complementarity into runtime savings (SolverOnlyCapture = -0.1633), collapsing toward the majority policy.</a:t>
            </a:r>
          </a:p>
          <a:p>
            <a:pPr algn="l">
              <a:spcAft>
                <a:spcPts val="700"/>
              </a:spcAft>
              <a:defRPr sz="1050">
                <a:solidFill>
                  <a:srgbClr val="2563EB"/>
                </a:solidFill>
                <a:latin typeface="Segoe UI"/>
              </a:defRPr>
            </a:pPr>
            <a:r>
              <a:t>• </a:t>
            </a:r>
            <a:r>
              <a:rPr b="1">
                <a:solidFill>
                  <a:srgbClr val="0F172A"/>
                </a:solidFill>
              </a:rPr>
              <a:t>Zero Genuine Crossovers: </a:t>
            </a:r>
            <a:r>
              <a:rPr b="0">
                <a:solidFill>
                  <a:srgbClr val="334155"/>
                </a:solidFill>
              </a:rPr>
              <a:t> After qualifying nominal runtime differences against empirical measurement dispersion (16.32% library, 9.40% compiled), adaptive selection achieves exactly 0 out of 40 genuine crossover cells.</a:t>
            </a:r>
          </a:p>
          <a:p>
            <a:pPr algn="l">
              <a:spcAft>
                <a:spcPts val="700"/>
              </a:spcAft>
              <a:defRPr sz="1050">
                <a:solidFill>
                  <a:srgbClr val="2563EB"/>
                </a:solidFill>
                <a:latin typeface="Segoe UI"/>
              </a:defRPr>
            </a:pPr>
            <a:r>
              <a:t>• </a:t>
            </a:r>
            <a:r>
              <a:rPr b="1">
                <a:solidFill>
                  <a:srgbClr val="0F172A"/>
                </a:solidFill>
              </a:rPr>
              <a:t>Scientific Claim Boundaries: </a:t>
            </a:r>
            <a:r>
              <a:rPr b="0">
                <a:solidFill>
                  <a:srgbClr val="334155"/>
                </a:solidFill>
              </a:rPr>
              <a:t> OA-ASSP does not claim selection is universally non-viable; rather, it establishes that per-instance selection must be formally evaluated against the headroom it is meant to exploit.</a:t>
            </a:r>
          </a:p>
        </p:txBody>
      </p:sp>
      <p:sp>
        <p:nvSpPr>
          <p:cNvPr id="7" name="Rounded Rectangle 6"/>
          <p:cNvSpPr/>
          <p:nvPr/>
        </p:nvSpPr>
        <p:spPr>
          <a:xfrm>
            <a:off x="731520" y="5029200"/>
            <a:ext cx="10728655" cy="1143000"/>
          </a:xfrm>
          <a:prstGeom prst="roundRect">
            <a:avLst/>
          </a:prstGeom>
          <a:solidFill>
            <a:srgbClr val="1A365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square" lIns="274320" tIns="164592" rIns="274320" rtlCol="0" anchor="t"/>
          <a:lstStyle/>
          <a:p>
            <a:pPr algn="ctr">
              <a:spcAft>
                <a:spcPts val="400"/>
              </a:spcAft>
              <a:defRPr sz="1000" b="1">
                <a:solidFill>
                  <a:srgbClr val="2563EB"/>
                </a:solidFill>
                <a:latin typeface="Segoe UI"/>
              </a:defRPr>
            </a:pPr>
            <a:r>
              <a:t>CORE GUIDING PRINCIPLE FOR EMPIRICAL ALGORITHMICS:</a:t>
            </a:r>
          </a:p>
          <a:p>
            <a:pPr algn="ctr">
              <a:defRPr sz="1400" b="1">
                <a:solidFill>
                  <a:srgbClr val="FFFFFF"/>
                </a:solidFill>
                <a:latin typeface="Segoe UI"/>
              </a:defRPr>
            </a:pPr>
            <a:r>
              <a:t>"The central question is not only which solver is best, but whether the cost of choosing it can be justified by the workload."</a:t>
            </a:r>
          </a:p>
        </p:txBody>
      </p:sp>
      <p:sp>
        <p:nvSpPr>
          <p:cNvPr id="8" name="Rectangle 7"/>
          <p:cNvSpPr/>
          <p:nvPr/>
        </p:nvSpPr>
        <p:spPr>
          <a:xfrm>
            <a:off x="731520" y="63276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382512"/>
            <a:ext cx="8229600" cy="274320"/>
          </a:xfrm>
          <a:prstGeom prst="rect">
            <a:avLst/>
          </a:prstGeom>
          <a:noFill/>
        </p:spPr>
        <p:txBody>
          <a:bodyPr wrap="none" lIns="0" tIns="0" rIns="0" bIns="0">
            <a:spAutoFit/>
          </a:bodyPr>
          <a:lstStyle/>
          <a:p>
            <a:pPr algn="l">
              <a:defRPr sz="950">
                <a:solidFill>
                  <a:srgbClr val="64748B"/>
                </a:solidFill>
                <a:latin typeface="Segoe UI"/>
              </a:defRPr>
            </a:pPr>
            <a:r>
              <a:t>DAA DA1 Literature Survey &amp; Research Presentation | OA-ASSP Study | VIT Chennai</a:t>
            </a:r>
          </a:p>
        </p:txBody>
      </p:sp>
      <p:sp>
        <p:nvSpPr>
          <p:cNvPr id="10" name="TextBox 9"/>
          <p:cNvSpPr txBox="1"/>
          <p:nvPr/>
        </p:nvSpPr>
        <p:spPr>
          <a:xfrm>
            <a:off x="9144000" y="6382512"/>
            <a:ext cx="2316175" cy="274320"/>
          </a:xfrm>
          <a:prstGeom prst="rect">
            <a:avLst/>
          </a:prstGeom>
          <a:noFill/>
        </p:spPr>
        <p:txBody>
          <a:bodyPr wrap="none" lIns="0" tIns="0" rIns="0" bIns="0">
            <a:spAutoFit/>
          </a:bodyPr>
          <a:lstStyle/>
          <a:p>
            <a:pPr algn="r">
              <a:defRPr sz="1000" b="1">
                <a:solidFill>
                  <a:srgbClr val="1A365D"/>
                </a:solidFill>
                <a:latin typeface="Segoe UI"/>
              </a:defRPr>
            </a:pPr>
            <a:r>
              <a:t>Slide 17 of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4604</Words>
  <Application>Microsoft Office PowerPoint</Application>
  <PresentationFormat>Widescreen</PresentationFormat>
  <Paragraphs>282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Ganeshvar K S</cp:lastModifiedBy>
  <cp:revision>2</cp:revision>
  <dcterms:created xsi:type="dcterms:W3CDTF">2013-01-27T09:14:16Z</dcterms:created>
  <dcterms:modified xsi:type="dcterms:W3CDTF">2026-10-04T17:00:18Z</dcterms:modified>
  <cp:category/>
</cp:coreProperties>
</file>